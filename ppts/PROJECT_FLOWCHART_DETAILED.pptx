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Yu Gothic"/>
              </a:rPr>
              <a:t>PDF????? ??????run_pipeline.ps1???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286000" cy="1005840"/>
          </a:xfrm>
          <a:prstGeom prst="roundRect">
            <a:avLst/>
          </a:prstGeom>
          <a:solidFill>
            <a:srgbClr val="E2F0FF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latin typeface="Yu Gothic"/>
              </a:rPr>
              <a:t>INPUT</a:t>
            </a:r>
          </a:p>
          <a:p>
            <a:pPr algn="ctr"/>
            <a:r>
              <a:rPr sz="1100" b="0">
                <a:latin typeface="Yu Gothic"/>
              </a:rPr>
              <a:t>input/</a:t>
            </a:r>
          </a:p>
          <a:p>
            <a:pPr algn="ctr"/>
            <a:r>
              <a:rPr sz="1100" b="0">
                <a:latin typeface="Yu Gothic"/>
              </a:rPr>
              <a:t>??82-90?</a:t>
            </a:r>
          </a:p>
          <a:p>
            <a:pPr algn="ctr"/>
            <a:r>
              <a:rPr sz="1100" b="0">
                <a:latin typeface="Yu Gothic"/>
              </a:rPr>
              <a:t>??810-819?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731520"/>
            <a:ext cx="246888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text_extractor.py</a:t>
            </a:r>
          </a:p>
          <a:p>
            <a:pPr algn="l"/>
            <a:r>
              <a:rPr sz="1000" b="0">
                <a:latin typeface="Yu Gothic"/>
              </a:rPr>
              <a:t>results/output1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91640"/>
            <a:ext cx="246888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hybrid_extraction.py</a:t>
            </a:r>
          </a:p>
          <a:p>
            <a:pPr algn="l"/>
            <a:r>
              <a:rPr sz="1000" b="0">
                <a:latin typeface="Yu Gothic"/>
              </a:rPr>
              <a:t>results/test1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731520"/>
            <a:ext cx="256032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text_cleaner.py</a:t>
            </a:r>
          </a:p>
          <a:p>
            <a:pPr algn="l"/>
            <a:r>
              <a:rPr sz="1000" b="0">
                <a:latin typeface="Yu Gothic"/>
              </a:rPr>
              <a:t>output1 -&gt; output2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691640"/>
            <a:ext cx="256032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text_cleaner.py</a:t>
            </a:r>
          </a:p>
          <a:p>
            <a:pPr algn="l"/>
            <a:r>
              <a:rPr sz="1000" b="0">
                <a:latin typeface="Yu Gothic"/>
              </a:rPr>
              <a:t>test1 -&gt; test2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731520"/>
            <a:ext cx="274320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post_clean_output3.py</a:t>
            </a:r>
          </a:p>
          <a:p>
            <a:pPr algn="l"/>
            <a:r>
              <a:rPr sz="1000" b="0">
                <a:latin typeface="Yu Gothic"/>
              </a:rPr>
              <a:t>output2 -&gt; output3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2743200" cy="82296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post_clean_output3.py</a:t>
            </a:r>
          </a:p>
          <a:p>
            <a:pPr algn="l"/>
            <a:r>
              <a:rPr sz="1000" b="0">
                <a:latin typeface="Yu Gothic"/>
              </a:rPr>
              <a:t>test2 -&gt; test3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697480"/>
            <a:ext cx="2743200" cy="91440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merge_86_texts.py / merge_89_texts.py</a:t>
            </a:r>
          </a:p>
          <a:p>
            <a:pPr algn="l"/>
            <a:r>
              <a:rPr sz="1000" b="0">
                <a:latin typeface="Yu Gothic"/>
              </a:rPr>
              <a:t>test3 -&gt; test4?86/89?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886200"/>
            <a:ext cx="8321040" cy="1417320"/>
          </a:xfrm>
          <a:prstGeom prst="roundRect">
            <a:avLst/>
          </a:prstGeom>
          <a:solidFill>
            <a:srgbClr val="E2F0FF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dsl_engine.py????DSL???</a:t>
            </a:r>
          </a:p>
          <a:p>
            <a:pPr algn="l"/>
            <a:r>
              <a:rPr sz="1000" b="0">
                <a:latin typeface="Yu Gothic"/>
              </a:rPr>
              <a:t>?output3: 82 / 83 / 84 / 87 / 88 / 90</a:t>
            </a:r>
          </a:p>
          <a:p>
            <a:pPr algn="l"/>
            <a:r>
              <a:rPr sz="1000" b="0">
                <a:latin typeface="Yu Gothic"/>
              </a:rPr>
              <a:t>?test3: 85 / 810 / 811 / 812 / 813 / 814 / 815 / 816 / 817 / 818 / 819</a:t>
            </a:r>
          </a:p>
          <a:p>
            <a:pPr algn="l"/>
            <a:r>
              <a:rPr sz="1000" b="0">
                <a:latin typeface="Yu Gothic"/>
              </a:rPr>
              <a:t>?test4: 86 / 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5486400"/>
            <a:ext cx="4023360" cy="86868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results/csv/&lt;??&gt;/</a:t>
            </a:r>
          </a:p>
          <a:p>
            <a:pPr algn="l"/>
            <a:r>
              <a:rPr sz="1000" b="0">
                <a:latin typeface="Yu Gothic"/>
              </a:rPr>
              <a:t>&lt;??&gt;_levels_summary.csv / .xlsx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5486400"/>
            <a:ext cx="4023360" cy="86868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latin typeface="Yu Gothic"/>
              </a:rPr>
              <a:t>merge_region_summaries.py</a:t>
            </a:r>
          </a:p>
          <a:p>
            <a:pPr algn="l"/>
            <a:r>
              <a:rPr sz="1000" b="0">
                <a:latin typeface="Yu Gothic"/>
              </a:rPr>
              <a:t>merged_levels_summary_*.csv / .xlsx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1143000"/>
            <a:ext cx="274320" cy="18288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1508760"/>
            <a:ext cx="274320" cy="54864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1143000"/>
            <a:ext cx="182880" cy="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057400"/>
            <a:ext cx="182880" cy="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1143000"/>
            <a:ext cx="182880" cy="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20" y="2057400"/>
            <a:ext cx="182880" cy="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2514600"/>
            <a:ext cx="0" cy="18288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229600" y="3611880"/>
            <a:ext cx="1371600" cy="27432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1554480"/>
            <a:ext cx="0" cy="233172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663440" y="5303520"/>
            <a:ext cx="2103120" cy="18288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66560" y="5303520"/>
            <a:ext cx="2194560" cy="182880"/>
          </a:xfrm>
          <a:prstGeom prst="line">
            <a:avLst/>
          </a:prstGeom>
          <a:ln w="20320">
            <a:solidFill>
              <a:srgbClr val="345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latin typeface="Yu Gothic"/>
              </a:rPr>
              <a:t>??????????Python??DSL?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4023360" cy="5303520"/>
          </a:xfrm>
          <a:prstGeom prst="roundRect">
            <a:avLst/>
          </a:prstGeom>
          <a:solidFill>
            <a:srgbClr val="E2F0FF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latin typeface="Yu Gothic"/>
              </a:rPr>
              <a:t>Python?????8??</a:t>
            </a:r>
          </a:p>
          <a:p>
            <a:pPr algn="l"/>
            <a:r>
              <a:rPr sz="1100" b="0">
                <a:latin typeface="Yu Gothic"/>
              </a:rPr>
              <a:t>?text_extractor.py</a:t>
            </a:r>
          </a:p>
          <a:p>
            <a:pPr algn="l"/>
            <a:r>
              <a:rPr sz="1100" b="0">
                <a:latin typeface="Yu Gothic"/>
              </a:rPr>
              <a:t>?hybrid_extraction.py</a:t>
            </a:r>
          </a:p>
          <a:p>
            <a:pPr algn="l"/>
            <a:r>
              <a:rPr sz="1100" b="0">
                <a:latin typeface="Yu Gothic"/>
              </a:rPr>
              <a:t>?text_cleaner.py</a:t>
            </a:r>
          </a:p>
          <a:p>
            <a:pPr algn="l"/>
            <a:r>
              <a:rPr sz="1100" b="0">
                <a:latin typeface="Yu Gothic"/>
              </a:rPr>
              <a:t>?post_clean_output3.py</a:t>
            </a:r>
          </a:p>
          <a:p>
            <a:pPr algn="l"/>
            <a:r>
              <a:rPr sz="1100" b="0">
                <a:latin typeface="Yu Gothic"/>
              </a:rPr>
              <a:t>?merge_86_texts.py</a:t>
            </a:r>
          </a:p>
          <a:p>
            <a:pPr algn="l"/>
            <a:r>
              <a:rPr sz="1100" b="0">
                <a:latin typeface="Yu Gothic"/>
              </a:rPr>
              <a:t>?merge_89_texts.py</a:t>
            </a:r>
          </a:p>
          <a:p>
            <a:pPr algn="l"/>
            <a:r>
              <a:rPr sz="1100" b="0">
                <a:latin typeface="Yu Gothic"/>
              </a:rPr>
              <a:t>?dsl_engine.py</a:t>
            </a:r>
          </a:p>
          <a:p>
            <a:pPr algn="l"/>
            <a:r>
              <a:rPr sz="1100" b="0">
                <a:latin typeface="Yu Gothic"/>
              </a:rPr>
              <a:t>?merge_region_summaries.py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822960"/>
            <a:ext cx="3474720" cy="530352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latin typeface="Yu Gothic"/>
              </a:rPr>
              <a:t>DSL?????82-90?</a:t>
            </a:r>
          </a:p>
          <a:p>
            <a:pPr algn="l"/>
            <a:r>
              <a:rPr sz="1100" b="0">
                <a:latin typeface="Yu Gothic"/>
              </a:rPr>
              <a:t>?82_script.dsl</a:t>
            </a:r>
          </a:p>
          <a:p>
            <a:pPr algn="l"/>
            <a:r>
              <a:rPr sz="1100" b="0">
                <a:latin typeface="Yu Gothic"/>
              </a:rPr>
              <a:t>?83_script.dsl</a:t>
            </a:r>
          </a:p>
          <a:p>
            <a:pPr algn="l"/>
            <a:r>
              <a:rPr sz="1100" b="0">
                <a:latin typeface="Yu Gothic"/>
              </a:rPr>
              <a:t>?84_script.dsl</a:t>
            </a:r>
          </a:p>
          <a:p>
            <a:pPr algn="l"/>
            <a:r>
              <a:rPr sz="1100" b="0">
                <a:latin typeface="Yu Gothic"/>
              </a:rPr>
              <a:t>?85_script.dsl</a:t>
            </a:r>
          </a:p>
          <a:p>
            <a:pPr algn="l"/>
            <a:r>
              <a:rPr sz="1100" b="0">
                <a:latin typeface="Yu Gothic"/>
              </a:rPr>
              <a:t>?86_script.dsl</a:t>
            </a:r>
          </a:p>
          <a:p>
            <a:pPr algn="l"/>
            <a:r>
              <a:rPr sz="1100" b="0">
                <a:latin typeface="Yu Gothic"/>
              </a:rPr>
              <a:t>?87_script.dsl</a:t>
            </a:r>
          </a:p>
          <a:p>
            <a:pPr algn="l"/>
            <a:r>
              <a:rPr sz="1100" b="0">
                <a:latin typeface="Yu Gothic"/>
              </a:rPr>
              <a:t>?88_script.dsl</a:t>
            </a:r>
          </a:p>
          <a:p>
            <a:pPr algn="l"/>
            <a:r>
              <a:rPr sz="1100" b="0">
                <a:latin typeface="Yu Gothic"/>
              </a:rPr>
              <a:t>?89_script.dsl</a:t>
            </a:r>
          </a:p>
          <a:p>
            <a:pPr algn="l"/>
            <a:r>
              <a:rPr sz="1100" b="0">
                <a:latin typeface="Yu Gothic"/>
              </a:rPr>
              <a:t>?90_script.dsl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822960"/>
            <a:ext cx="3474720" cy="5303520"/>
          </a:xfrm>
          <a:prstGeom prst="roundRect">
            <a:avLst/>
          </a:prstGeom>
          <a:solidFill>
            <a:srgbClr val="EBE9BD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latin typeface="Yu Gothic"/>
              </a:rPr>
              <a:t>DSL?????810-819?</a:t>
            </a:r>
          </a:p>
          <a:p>
            <a:pPr algn="l"/>
            <a:r>
              <a:rPr sz="1100" b="0">
                <a:latin typeface="Yu Gothic"/>
              </a:rPr>
              <a:t>?810_script.dsl</a:t>
            </a:r>
          </a:p>
          <a:p>
            <a:pPr algn="l"/>
            <a:r>
              <a:rPr sz="1100" b="0">
                <a:latin typeface="Yu Gothic"/>
              </a:rPr>
              <a:t>?811_script.dsl</a:t>
            </a:r>
          </a:p>
          <a:p>
            <a:pPr algn="l"/>
            <a:r>
              <a:rPr sz="1100" b="0">
                <a:latin typeface="Yu Gothic"/>
              </a:rPr>
              <a:t>?812_script.dsl</a:t>
            </a:r>
          </a:p>
          <a:p>
            <a:pPr algn="l"/>
            <a:r>
              <a:rPr sz="1100" b="0">
                <a:latin typeface="Yu Gothic"/>
              </a:rPr>
              <a:t>?813_script.dsl</a:t>
            </a:r>
          </a:p>
          <a:p>
            <a:pPr algn="l"/>
            <a:r>
              <a:rPr sz="1100" b="0">
                <a:latin typeface="Yu Gothic"/>
              </a:rPr>
              <a:t>?814_script.dsl</a:t>
            </a:r>
          </a:p>
          <a:p>
            <a:pPr algn="l"/>
            <a:r>
              <a:rPr sz="1100" b="0">
                <a:latin typeface="Yu Gothic"/>
              </a:rPr>
              <a:t>?815_script.dsl</a:t>
            </a:r>
          </a:p>
          <a:p>
            <a:pPr algn="l"/>
            <a:r>
              <a:rPr sz="1100" b="0">
                <a:latin typeface="Yu Gothic"/>
              </a:rPr>
              <a:t>?816_script.dsl</a:t>
            </a:r>
          </a:p>
          <a:p>
            <a:pPr algn="l"/>
            <a:r>
              <a:rPr sz="1100" b="0">
                <a:latin typeface="Yu Gothic"/>
              </a:rPr>
              <a:t>?817_script.dsl</a:t>
            </a:r>
          </a:p>
          <a:p>
            <a:pPr algn="l"/>
            <a:r>
              <a:rPr sz="1100" b="0">
                <a:latin typeface="Yu Gothic"/>
              </a:rPr>
              <a:t>?818_script.dsl</a:t>
            </a:r>
          </a:p>
          <a:p>
            <a:pPr algn="l"/>
            <a:r>
              <a:rPr sz="1100" b="0">
                <a:latin typeface="Yu Gothic"/>
              </a:rPr>
              <a:t>?819_script.dsl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6309360"/>
            <a:ext cx="114300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45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0">
                <a:latin typeface="Yu Gothic"/>
              </a:rPr>
              <a:t>??</a:t>
            </a:r>
          </a:p>
          <a:p>
            <a:pPr algn="l"/>
            <a:r>
              <a:rPr sz="1000" b="0">
                <a:latin typeface="Yu Gothic"/>
              </a:rPr>
              <a:t>?run_pipeline.ps1: ??????? -&gt; ?????? -&gt; ????????? -&gt; ??? -&gt; DSL?</a:t>
            </a:r>
          </a:p>
          <a:p>
            <a:pPr algn="l"/>
            <a:r>
              <a:rPr sz="1000" b="0">
                <a:latin typeface="Yu Gothic"/>
              </a:rPr>
              <a:t>?run_regions_pipeline.ps1: DSL?????</a:t>
            </a:r>
          </a:p>
          <a:p>
            <a:pPr algn="l"/>
            <a:r>
              <a:rPr sz="1000" b="0">
                <a:latin typeface="Yu Gothic"/>
              </a:rPr>
              <a:t>????DSL????: ????? levels_summary 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