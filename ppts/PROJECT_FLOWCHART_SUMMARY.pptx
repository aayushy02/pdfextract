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828800" cy="502920"/>
          </a:xfrm>
          <a:prstGeom prst="rect">
            <a:avLst/>
          </a:prstGeom>
          <a:solidFill>
            <a:srgbClr val="EBE9BD"/>
          </a:solidFill>
          <a:ln w="19050">
            <a:solidFill>
              <a:srgbClr val="41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latin typeface="Yu Gothic"/>
              </a:rPr>
              <a:t>技術提案テーマ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463040" cy="457200"/>
          </a:xfrm>
          <a:prstGeom prst="rect">
            <a:avLst/>
          </a:prstGeom>
          <a:solidFill>
            <a:srgbClr val="EBE9BD"/>
          </a:solidFill>
          <a:ln w="19050">
            <a:solidFill>
              <a:srgbClr val="41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Yu Gothic"/>
              </a:rPr>
              <a:t>EXTRACT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148840"/>
            <a:ext cx="1463040" cy="457200"/>
          </a:xfrm>
          <a:prstGeom prst="rect">
            <a:avLst/>
          </a:prstGeom>
          <a:solidFill>
            <a:srgbClr val="EBE9BD"/>
          </a:solidFill>
          <a:ln w="19050">
            <a:solidFill>
              <a:srgbClr val="41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Yu Gothic"/>
              </a:rPr>
              <a:t>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463040" cy="457200"/>
          </a:xfrm>
          <a:prstGeom prst="rect">
            <a:avLst/>
          </a:prstGeom>
          <a:solidFill>
            <a:srgbClr val="EBE9BD"/>
          </a:solidFill>
          <a:ln w="19050">
            <a:solidFill>
              <a:srgbClr val="41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Yu Gothic"/>
              </a:rPr>
              <a:t>OUTPUT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731520"/>
            <a:ext cx="0" cy="5486400"/>
          </a:xfrm>
          <a:prstGeom prst="line">
            <a:avLst/>
          </a:prstGeom>
          <a:ln w="25400">
            <a:solidFill>
              <a:srgbClr val="41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94360" y="1371600"/>
            <a:ext cx="365760" cy="0"/>
          </a:xfrm>
          <a:prstGeom prst="line">
            <a:avLst/>
          </a:prstGeom>
          <a:ln w="19050">
            <a:solidFill>
              <a:srgbClr val="41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94360" y="2377440"/>
            <a:ext cx="365760" cy="0"/>
          </a:xfrm>
          <a:prstGeom prst="line">
            <a:avLst/>
          </a:prstGeom>
          <a:ln w="19050">
            <a:solidFill>
              <a:srgbClr val="41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94360" y="3474720"/>
            <a:ext cx="365760" cy="0"/>
          </a:xfrm>
          <a:prstGeom prst="line">
            <a:avLst/>
          </a:prstGeom>
          <a:ln w="19050">
            <a:solidFill>
              <a:srgbClr val="41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0" y="228600"/>
            <a:ext cx="356616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41637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320040"/>
            <a:ext cx="3246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latin typeface="Yu Gothic"/>
              </a:rPr>
              <a:t>text_extractor.py</a:t>
            </a:r>
          </a:p>
          <a:p>
            <a:pPr algn="l"/>
            <a:r>
              <a:rPr sz="1100" b="0">
                <a:latin typeface="Yu Gothic"/>
              </a:rPr>
              <a:t>hybrid_extraction.py</a:t>
            </a:r>
          </a:p>
          <a:p>
            <a:pPr algn="l"/>
            <a:r>
              <a:rPr sz="1100" b="0">
                <a:latin typeface="Yu Gothic"/>
              </a:rPr>
              <a:t>text_cleaner.py</a:t>
            </a:r>
          </a:p>
          <a:p>
            <a:pPr algn="l"/>
            <a:r>
              <a:rPr sz="1100" b="0">
                <a:latin typeface="Yu Gothic"/>
              </a:rPr>
              <a:t>post_clean_output3.py</a:t>
            </a:r>
          </a:p>
          <a:p>
            <a:pPr algn="l"/>
            <a:r>
              <a:rPr sz="1100" b="0">
                <a:latin typeface="Yu Gothic"/>
              </a:rPr>
              <a:t>merge_86_texts.py / merge_89_texts.py</a:t>
            </a:r>
          </a:p>
          <a:p>
            <a:pPr algn="l"/>
            <a:r>
              <a:rPr sz="1100" b="0">
                <a:latin typeface="Yu Gothic"/>
              </a:rPr>
              <a:t>dsl_engine.py</a:t>
            </a:r>
          </a:p>
          <a:p>
            <a:pPr algn="l"/>
            <a:r>
              <a:rPr sz="1100" b="0">
                <a:latin typeface="Yu Gothic"/>
              </a:rPr>
              <a:t>merge_region_summaries.py</a:t>
            </a:r>
          </a:p>
          <a:p>
            <a:pPr algn="l"/>
            <a:r>
              <a:rPr sz="1100" b="0">
                <a:latin typeface="Yu Gothic"/>
              </a:rPr>
              <a:t>DSL: 82-90 / 810-819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1371600"/>
            <a:ext cx="685800" cy="0"/>
          </a:xfrm>
          <a:prstGeom prst="line">
            <a:avLst/>
          </a:prstGeom>
          <a:ln w="19050">
            <a:solidFill>
              <a:srgbClr val="41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68880" y="2011680"/>
            <a:ext cx="6949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latin typeface="Yu Gothic"/>
              </a:rPr>
              <a:t>input/【82-90】/&lt;本管|本官|対象外|案件フォルダ&gt;/*</a:t>
            </a:r>
          </a:p>
          <a:p>
            <a:pPr algn="l"/>
            <a:r>
              <a:rPr sz="1200" b="0">
                <a:latin typeface="Yu Gothic"/>
              </a:rPr>
              <a:t>input/【810-819】/&lt;対象外|案件フォルダ&gt;/*</a:t>
            </a:r>
          </a:p>
          <a:p>
            <a:pPr algn="l"/>
            <a:r>
              <a:rPr sz="1200" b="0">
                <a:latin typeface="Yu Gothic"/>
              </a:rPr>
              <a:t>対応拡張子: pdf / docx / xls / xlsx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2377440"/>
            <a:ext cx="365760" cy="0"/>
          </a:xfrm>
          <a:prstGeom prst="line">
            <a:avLst/>
          </a:prstGeom>
          <a:ln w="19050">
            <a:solidFill>
              <a:srgbClr val="41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468880" y="2971800"/>
            <a:ext cx="1828800" cy="411480"/>
          </a:xfrm>
          <a:prstGeom prst="rect">
            <a:avLst/>
          </a:prstGeom>
          <a:solidFill>
            <a:srgbClr val="EBE9BD"/>
          </a:solidFill>
          <a:ln w="19050">
            <a:solidFill>
              <a:srgbClr val="41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latin typeface="Yu Gothic"/>
              </a:rPr>
              <a:t>82-90 地域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474720"/>
            <a:ext cx="1828800" cy="411480"/>
          </a:xfrm>
          <a:prstGeom prst="rect">
            <a:avLst/>
          </a:prstGeom>
          <a:solidFill>
            <a:srgbClr val="EBE9BD"/>
          </a:solidFill>
          <a:ln w="19050">
            <a:solidFill>
              <a:srgbClr val="41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latin typeface="Yu Gothic"/>
              </a:rPr>
              <a:t>810-819 地域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977639"/>
            <a:ext cx="1828800" cy="411480"/>
          </a:xfrm>
          <a:prstGeom prst="rect">
            <a:avLst/>
          </a:prstGeom>
          <a:solidFill>
            <a:srgbClr val="EBE9BD"/>
          </a:solidFill>
          <a:ln w="19050">
            <a:solidFill>
              <a:srgbClr val="41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latin typeface="Yu Gothic"/>
              </a:rPr>
              <a:t>その他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57400" y="3474720"/>
            <a:ext cx="411480" cy="0"/>
          </a:xfrm>
          <a:prstGeom prst="line">
            <a:avLst/>
          </a:prstGeom>
          <a:ln w="19050">
            <a:solidFill>
              <a:srgbClr val="41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0" y="2926080"/>
            <a:ext cx="40233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latin typeface="Yu Gothic"/>
              </a:rPr>
              <a:t>results/output1 -&gt; output2 -&gt; output3</a:t>
            </a:r>
          </a:p>
          <a:p>
            <a:pPr algn="l"/>
            <a:r>
              <a:rPr sz="1100" b="0">
                <a:latin typeface="Yu Gothic"/>
              </a:rPr>
              <a:t>results/test1 -&gt; test2 -&gt; test3 -&gt; test4（86/89）</a:t>
            </a:r>
          </a:p>
          <a:p>
            <a:pPr algn="l"/>
            <a:r>
              <a:rPr sz="1100" b="0">
                <a:latin typeface="Yu Gothic"/>
              </a:rPr>
              <a:t>results/csv/&lt;??&gt;/</a:t>
            </a:r>
          </a:p>
          <a:p>
            <a:pPr algn="l"/>
            <a:r>
              <a:rPr sz="1100" b="0">
                <a:latin typeface="Yu Gothic"/>
              </a:rPr>
              <a:t>  ?&lt;??&gt;_levels_summary.csv</a:t>
            </a:r>
          </a:p>
          <a:p>
            <a:pPr algn="l"/>
            <a:r>
              <a:rPr sz="1100" b="0">
                <a:latin typeface="Yu Gothic"/>
              </a:rPr>
              <a:t>  ?&lt;??&gt;_levels_summary.xlsx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0" y="3200400"/>
            <a:ext cx="274320" cy="0"/>
          </a:xfrm>
          <a:prstGeom prst="line">
            <a:avLst/>
          </a:prstGeom>
          <a:ln w="19050">
            <a:solidFill>
              <a:srgbClr val="41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623560" y="4800600"/>
            <a:ext cx="30175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41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48920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latin typeface="Yu Gothic"/>
              </a:rPr>
              <a:t>Sheet: Sheet1</a:t>
            </a:r>
          </a:p>
          <a:p>
            <a:pPr algn="l"/>
            <a:r>
              <a:rPr sz="1100" b="0">
                <a:latin typeface="Yu Gothic"/>
              </a:rPr>
              <a:t>82-90 / 810-819  ファイル名  抽出結果</a:t>
            </a:r>
          </a:p>
          <a:p>
            <a:pPr algn="l"/>
            <a:r>
              <a:rPr sz="1100" b="0">
                <a:latin typeface="Yu Gothic"/>
              </a:rPr>
              <a:t>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4983480"/>
            <a:ext cx="2560320" cy="1097280"/>
          </a:xfrm>
          <a:prstGeom prst="rect">
            <a:avLst/>
          </a:prstGeom>
          <a:solidFill>
            <a:srgbClr val="FFEF78"/>
          </a:solidFill>
          <a:ln w="19050">
            <a:solidFill>
              <a:srgbClr val="41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latin typeface="Yu Gothic"/>
              </a:rPr>
              <a:t>抽出結果</a:t>
            </a:r>
            <a:br/>
            <a:r>
              <a:rPr sz="1100" b="0">
                <a:latin typeface="Yu Gothic"/>
              </a:rPr>
              <a:t>・地方整備局名 / 事務所名</a:t>
            </a:r>
            <a:br/>
            <a:r>
              <a:rPr sz="1100" b="0">
                <a:latin typeface="Yu Gothic"/>
              </a:rPr>
              <a:t>・工事件名</a:t>
            </a:r>
            <a:br/>
            <a:r>
              <a:rPr sz="1100" b="0">
                <a:latin typeface="Yu Gothic"/>
              </a:rPr>
              <a:t>・技術提案テーマ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1080" y="5440680"/>
            <a:ext cx="228600" cy="0"/>
          </a:xfrm>
          <a:prstGeom prst="line">
            <a:avLst/>
          </a:prstGeom>
          <a:ln w="19050">
            <a:solidFill>
              <a:srgbClr val="41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