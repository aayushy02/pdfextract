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661" y="288720"/>
            <a:ext cx="394691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 err="1">
                <a:solidFill>
                  <a:srgbClr val="0F172A"/>
                </a:solidFill>
                <a:latin typeface="Yu Gothic"/>
              </a:rPr>
              <a:t>アプリケーション</a:t>
            </a:r>
            <a:r>
              <a:rPr sz="2600" b="1" dirty="0">
                <a:solidFill>
                  <a:srgbClr val="0F172A"/>
                </a:solidFill>
                <a:latin typeface="Yu Gothic"/>
              </a:rPr>
              <a:t> </a:t>
            </a:r>
            <a:r>
              <a:rPr sz="2600" b="1" dirty="0" err="1">
                <a:solidFill>
                  <a:srgbClr val="0F172A"/>
                </a:solidFill>
                <a:latin typeface="Yu Gothic"/>
              </a:rPr>
              <a:t>フロ</a:t>
            </a:r>
            <a:r>
              <a:rPr sz="2600" b="1" dirty="0">
                <a:solidFill>
                  <a:srgbClr val="0F172A"/>
                </a:solidFill>
                <a:latin typeface="Yu Gothic"/>
              </a:rPr>
              <a:t>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" y="1307589"/>
            <a:ext cx="1851660" cy="603502"/>
          </a:xfrm>
          <a:prstGeom prst="roundRect">
            <a:avLst/>
          </a:prstGeom>
          <a:solidFill>
            <a:srgbClr val="BFDBF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 dirty="0" err="1">
                <a:solidFill>
                  <a:srgbClr val="0F172A"/>
                </a:solidFill>
                <a:latin typeface="Yu Gothic"/>
              </a:rPr>
              <a:t>実行ラッパ</a:t>
            </a:r>
            <a:r>
              <a:rPr sz="800" b="0" dirty="0">
                <a:solidFill>
                  <a:srgbClr val="0F172A"/>
                </a:solidFill>
                <a:latin typeface="Yu Gothic"/>
              </a:rPr>
              <a:t>ー
run_pipeline.ps1 / .</a:t>
            </a:r>
            <a:r>
              <a:rPr sz="800" b="0" dirty="0" err="1">
                <a:solidFill>
                  <a:srgbClr val="0F172A"/>
                </a:solidFill>
                <a:latin typeface="Yu Gothic"/>
              </a:rPr>
              <a:t>cmd</a:t>
            </a:r>
            <a:r>
              <a:rPr sz="800" b="0" dirty="0">
                <a:solidFill>
                  <a:srgbClr val="0F172A"/>
                </a:solidFill>
                <a:latin typeface="Yu Gothic"/>
              </a:rPr>
              <a:t>
run_regions_pipeline.ps1 / .</a:t>
            </a:r>
            <a:r>
              <a:rPr sz="800" b="0" dirty="0" err="1">
                <a:solidFill>
                  <a:srgbClr val="0F172A"/>
                </a:solidFill>
                <a:latin typeface="Yu Gothic"/>
              </a:rPr>
              <a:t>cmd</a:t>
            </a:r>
            <a:endParaRPr sz="800" b="0" dirty="0">
              <a:solidFill>
                <a:srgbClr val="0F172A"/>
              </a:solidFill>
              <a:latin typeface="Yu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466639" y="1307589"/>
            <a:ext cx="960120" cy="603502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 dirty="0">
                <a:solidFill>
                  <a:srgbClr val="0F172A"/>
                </a:solidFill>
                <a:latin typeface="Yu Gothic"/>
              </a:rPr>
              <a:t>input/
PDF, DOCX, XLS, XLSX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983" y="1027984"/>
            <a:ext cx="1524000" cy="585216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 dirty="0">
                <a:solidFill>
                  <a:srgbClr val="0F172A"/>
                </a:solidFill>
                <a:latin typeface="Yu Gothic"/>
              </a:rPr>
              <a:t>text_extractor.py
input -&gt; results/output1
</a:t>
            </a:r>
            <a:r>
              <a:rPr sz="800" b="0" dirty="0" err="1">
                <a:solidFill>
                  <a:srgbClr val="0F172A"/>
                </a:solidFill>
                <a:latin typeface="Yu Gothic"/>
              </a:rPr>
              <a:t>ログ</a:t>
            </a:r>
            <a:r>
              <a:rPr sz="800" b="0" dirty="0">
                <a:solidFill>
                  <a:srgbClr val="0F172A"/>
                </a:solidFill>
                <a:latin typeface="Yu Gothic"/>
              </a:rPr>
              <a:t>: results/extraction_log.csv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6984" y="1725975"/>
            <a:ext cx="1523999" cy="537165"/>
          </a:xfrm>
          <a:prstGeom prst="roundRect">
            <a:avLst/>
          </a:prstGeom>
          <a:solidFill>
            <a:srgbClr val="E9D5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 dirty="0">
                <a:solidFill>
                  <a:srgbClr val="0F172A"/>
                </a:solidFill>
                <a:latin typeface="Yu Gothic"/>
              </a:rPr>
              <a:t>hybrid_extraction.py
input -&gt; results/test1
</a:t>
            </a:r>
            <a:r>
              <a:rPr sz="800" b="0" dirty="0" err="1">
                <a:solidFill>
                  <a:srgbClr val="0F172A"/>
                </a:solidFill>
                <a:latin typeface="Yu Gothic"/>
              </a:rPr>
              <a:t>ログ</a:t>
            </a:r>
            <a:r>
              <a:rPr sz="800" b="0" dirty="0">
                <a:solidFill>
                  <a:srgbClr val="0F172A"/>
                </a:solidFill>
                <a:latin typeface="Yu Gothic"/>
              </a:rPr>
              <a:t>: results/test1/log.csv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6319" y="1065639"/>
            <a:ext cx="1524000" cy="516452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 dirty="0">
                <a:solidFill>
                  <a:srgbClr val="0F172A"/>
                </a:solidFill>
                <a:latin typeface="Yu Gothic"/>
              </a:rPr>
              <a:t>results/output1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96319" y="1718535"/>
            <a:ext cx="1524000" cy="512419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 dirty="0">
                <a:solidFill>
                  <a:srgbClr val="0F172A"/>
                </a:solidFill>
                <a:latin typeface="Yu Gothic"/>
              </a:rPr>
              <a:t>results/test1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97509" y="1066037"/>
            <a:ext cx="1524000" cy="516452"/>
          </a:xfrm>
          <a:prstGeom prst="roundRect">
            <a:avLst/>
          </a:prstGeom>
          <a:solidFill>
            <a:srgbClr val="BBF7D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 dirty="0">
                <a:solidFill>
                  <a:srgbClr val="0F172A"/>
                </a:solidFill>
                <a:latin typeface="Yu Gothic"/>
              </a:rPr>
              <a:t>text_cleaner.py
output1 -&gt; output2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0230" y="1732879"/>
            <a:ext cx="1504950" cy="498075"/>
          </a:xfrm>
          <a:prstGeom prst="roundRect">
            <a:avLst/>
          </a:prstGeom>
          <a:solidFill>
            <a:srgbClr val="BBF7D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 dirty="0">
                <a:solidFill>
                  <a:srgbClr val="0F172A"/>
                </a:solidFill>
                <a:latin typeface="Yu Gothic"/>
              </a:rPr>
              <a:t>text_cleaner.py
test1 -&gt; test2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64636" y="1046988"/>
            <a:ext cx="1707324" cy="516452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 dirty="0">
                <a:solidFill>
                  <a:srgbClr val="0F172A"/>
                </a:solidFill>
                <a:latin typeface="Yu Gothic"/>
              </a:rPr>
              <a:t>results/output2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64637" y="1728572"/>
            <a:ext cx="1408798" cy="498075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dirty="0">
                <a:solidFill>
                  <a:srgbClr val="0F172A"/>
                </a:solidFill>
                <a:latin typeface="Yu Gothic"/>
              </a:rPr>
              <a:t>results/test2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43160" y="3583374"/>
            <a:ext cx="1828801" cy="658368"/>
          </a:xfrm>
          <a:prstGeom prst="roundRect">
            <a:avLst/>
          </a:prstGeom>
          <a:solidFill>
            <a:srgbClr val="FBCFE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dirty="0">
                <a:solidFill>
                  <a:srgbClr val="0F172A"/>
                </a:solidFill>
                <a:latin typeface="Yu Gothic"/>
              </a:rPr>
              <a:t>post_clean_output3.py
output2 -&gt; output3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43160" y="2710742"/>
            <a:ext cx="1596620" cy="658368"/>
          </a:xfrm>
          <a:prstGeom prst="roundRect">
            <a:avLst/>
          </a:prstGeom>
          <a:solidFill>
            <a:srgbClr val="FBCFE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dirty="0">
                <a:solidFill>
                  <a:srgbClr val="0F172A"/>
                </a:solidFill>
                <a:latin typeface="Yu Gothic"/>
              </a:rPr>
              <a:t>post_clean_output3.py
test2 -&gt; test3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97508" y="3648456"/>
            <a:ext cx="1334171" cy="530352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Yu Gothic"/>
              </a:rPr>
              <a:t>results/output3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12336" y="2772693"/>
            <a:ext cx="1902532" cy="530352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Yu Gothic"/>
              </a:rPr>
              <a:t>results/test3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22377" y="2519442"/>
            <a:ext cx="2011015" cy="537165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dirty="0">
                <a:solidFill>
                  <a:srgbClr val="0F172A"/>
                </a:solidFill>
                <a:latin typeface="Yu Gothic"/>
              </a:rPr>
              <a:t>merge_86_texts.py
results/test3/【86】近畿
-&gt; results/test4/【86】近畿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28437" y="3163114"/>
            <a:ext cx="2048768" cy="537165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dirty="0">
                <a:solidFill>
                  <a:srgbClr val="0F172A"/>
                </a:solidFill>
                <a:latin typeface="Yu Gothic"/>
              </a:rPr>
              <a:t>merge_89_texts.py
results/test3/【89】九州
-&gt; results/test4/【89】九州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9142" y="2818413"/>
            <a:ext cx="1828800" cy="566928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Yu Gothic"/>
              </a:rPr>
              <a:t>results/test4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0229" y="4496567"/>
            <a:ext cx="2969333" cy="658368"/>
          </a:xfrm>
          <a:prstGeom prst="roundRect">
            <a:avLst/>
          </a:prstGeom>
          <a:solidFill>
            <a:srgbClr val="BFDBF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dirty="0">
                <a:solidFill>
                  <a:srgbClr val="0F172A"/>
                </a:solidFill>
                <a:latin typeface="Yu Gothic"/>
              </a:rPr>
              <a:t>dsl_engine.py
</a:t>
            </a:r>
            <a:r>
              <a:rPr sz="1000" b="0" dirty="0" err="1">
                <a:solidFill>
                  <a:srgbClr val="0F172A"/>
                </a:solidFill>
                <a:latin typeface="Yu Gothic"/>
              </a:rPr>
              <a:t>スクリプト</a:t>
            </a:r>
            <a:r>
              <a:rPr sz="1000" b="0" dirty="0">
                <a:solidFill>
                  <a:srgbClr val="0F172A"/>
                </a:solidFill>
                <a:latin typeface="Yu Gothic"/>
              </a:rPr>
              <a:t>: 82,83,84,87,88,90
</a:t>
            </a:r>
            <a:r>
              <a:rPr sz="1000" b="0" dirty="0" err="1">
                <a:solidFill>
                  <a:srgbClr val="0F172A"/>
                </a:solidFill>
                <a:latin typeface="Yu Gothic"/>
              </a:rPr>
              <a:t>入力</a:t>
            </a:r>
            <a:r>
              <a:rPr sz="1000" b="0" dirty="0">
                <a:solidFill>
                  <a:srgbClr val="0F172A"/>
                </a:solidFill>
                <a:latin typeface="Yu Gothic"/>
              </a:rPr>
              <a:t>: results/output3/&lt;</a:t>
            </a:r>
            <a:r>
              <a:rPr sz="1000" b="0" dirty="0" err="1">
                <a:solidFill>
                  <a:srgbClr val="0F172A"/>
                </a:solidFill>
                <a:latin typeface="Yu Gothic"/>
              </a:rPr>
              <a:t>地域</a:t>
            </a:r>
            <a:r>
              <a:rPr sz="1000" b="0" dirty="0">
                <a:solidFill>
                  <a:srgbClr val="0F172A"/>
                </a:solidFill>
                <a:latin typeface="Yu Gothic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35153" y="5263939"/>
            <a:ext cx="3464409" cy="658368"/>
          </a:xfrm>
          <a:prstGeom prst="roundRect">
            <a:avLst/>
          </a:prstGeom>
          <a:solidFill>
            <a:srgbClr val="BFDBF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dirty="0">
                <a:solidFill>
                  <a:srgbClr val="0F172A"/>
                </a:solidFill>
                <a:latin typeface="Yu Gothic"/>
              </a:rPr>
              <a:t>dsl_engine.py
</a:t>
            </a:r>
            <a:r>
              <a:rPr sz="1000" b="0" dirty="0" err="1">
                <a:solidFill>
                  <a:srgbClr val="0F172A"/>
                </a:solidFill>
                <a:latin typeface="Yu Gothic"/>
              </a:rPr>
              <a:t>スクリプト</a:t>
            </a:r>
            <a:r>
              <a:rPr sz="1000" b="0" dirty="0">
                <a:solidFill>
                  <a:srgbClr val="0F172A"/>
                </a:solidFill>
                <a:latin typeface="Yu Gothic"/>
              </a:rPr>
              <a:t>: 85,810-819
</a:t>
            </a:r>
            <a:r>
              <a:rPr sz="1000" b="0" dirty="0" err="1">
                <a:solidFill>
                  <a:srgbClr val="0F172A"/>
                </a:solidFill>
                <a:latin typeface="Yu Gothic"/>
              </a:rPr>
              <a:t>入力</a:t>
            </a:r>
            <a:r>
              <a:rPr sz="1000" b="0" dirty="0">
                <a:solidFill>
                  <a:srgbClr val="0F172A"/>
                </a:solidFill>
                <a:latin typeface="Yu Gothic"/>
              </a:rPr>
              <a:t>: results/test3/&lt;</a:t>
            </a:r>
            <a:r>
              <a:rPr sz="1000" b="0" dirty="0" err="1">
                <a:solidFill>
                  <a:srgbClr val="0F172A"/>
                </a:solidFill>
                <a:latin typeface="Yu Gothic"/>
              </a:rPr>
              <a:t>地域</a:t>
            </a:r>
            <a:r>
              <a:rPr sz="1000" b="0" dirty="0">
                <a:solidFill>
                  <a:srgbClr val="0F172A"/>
                </a:solidFill>
                <a:latin typeface="Yu Gothic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2301" y="4329865"/>
            <a:ext cx="2240280" cy="658368"/>
          </a:xfrm>
          <a:prstGeom prst="roundRect">
            <a:avLst/>
          </a:prstGeom>
          <a:solidFill>
            <a:srgbClr val="BFDBF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dirty="0">
                <a:solidFill>
                  <a:srgbClr val="0F172A"/>
                </a:solidFill>
                <a:latin typeface="Yu Gothic"/>
              </a:rPr>
              <a:t>dsl_engine.py
</a:t>
            </a:r>
            <a:r>
              <a:rPr sz="1000" b="0" dirty="0" err="1">
                <a:solidFill>
                  <a:srgbClr val="0F172A"/>
                </a:solidFill>
                <a:latin typeface="Yu Gothic"/>
              </a:rPr>
              <a:t>スクリプト</a:t>
            </a:r>
            <a:r>
              <a:rPr sz="1000" b="0" dirty="0">
                <a:solidFill>
                  <a:srgbClr val="0F172A"/>
                </a:solidFill>
                <a:latin typeface="Yu Gothic"/>
              </a:rPr>
              <a:t>: 86,89
</a:t>
            </a:r>
            <a:r>
              <a:rPr sz="1000" b="0" dirty="0" err="1">
                <a:solidFill>
                  <a:srgbClr val="0F172A"/>
                </a:solidFill>
                <a:latin typeface="Yu Gothic"/>
              </a:rPr>
              <a:t>入力</a:t>
            </a:r>
            <a:r>
              <a:rPr sz="1000" b="0" dirty="0">
                <a:solidFill>
                  <a:srgbClr val="0F172A"/>
                </a:solidFill>
                <a:latin typeface="Yu Gothic"/>
              </a:rPr>
              <a:t>: results/test4/&lt;</a:t>
            </a:r>
            <a:r>
              <a:rPr sz="1000" b="0" dirty="0" err="1">
                <a:solidFill>
                  <a:srgbClr val="0F172A"/>
                </a:solidFill>
                <a:latin typeface="Yu Gothic"/>
              </a:rPr>
              <a:t>地域</a:t>
            </a:r>
            <a:r>
              <a:rPr sz="1000" b="0" dirty="0">
                <a:solidFill>
                  <a:srgbClr val="0F172A"/>
                </a:solidFill>
                <a:latin typeface="Yu Gothic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67619" y="4768600"/>
            <a:ext cx="2057400" cy="960120"/>
          </a:xfrm>
          <a:prstGeom prst="roundRect">
            <a:avLst/>
          </a:prstGeom>
          <a:solidFill>
            <a:srgbClr val="FDE04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 dirty="0">
                <a:solidFill>
                  <a:srgbClr val="0F172A"/>
                </a:solidFill>
                <a:latin typeface="Yu Gothic"/>
              </a:rPr>
              <a:t>results/csv/&lt;</a:t>
            </a:r>
            <a:r>
              <a:rPr sz="900" b="0" dirty="0" err="1">
                <a:solidFill>
                  <a:srgbClr val="0F172A"/>
                </a:solidFill>
                <a:latin typeface="Yu Gothic"/>
              </a:rPr>
              <a:t>地域</a:t>
            </a:r>
            <a:r>
              <a:rPr sz="900" b="0" dirty="0">
                <a:solidFill>
                  <a:srgbClr val="0F172A"/>
                </a:solidFill>
                <a:latin typeface="Yu Gothic"/>
              </a:rPr>
              <a:t>&gt;
&lt;name&gt;.csv
&lt;name&gt;_all_texts_summary.csv
&lt;name&gt;_levels_summary.csv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6421" y="5450814"/>
            <a:ext cx="2651760" cy="1280160"/>
          </a:xfrm>
          <a:prstGeom prst="roundRect">
            <a:avLst/>
          </a:prstGeom>
          <a:solidFill>
            <a:srgbClr val="D8B4F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 dirty="0" err="1">
                <a:solidFill>
                  <a:srgbClr val="0F172A"/>
                </a:solidFill>
                <a:latin typeface="Yu Gothic"/>
              </a:rPr>
              <a:t>merge_region_summaries.py（任意</a:t>
            </a:r>
            <a:r>
              <a:rPr sz="900" b="0" dirty="0">
                <a:solidFill>
                  <a:srgbClr val="0F172A"/>
                </a:solidFill>
                <a:latin typeface="Yu Gothic"/>
              </a:rPr>
              <a:t>）
merged_main_summary_82-90.xlsx
merged_levels_summary_82-90.xlsx
merged_main_summary_810-819.xlsx
merged_levels_summary_810-819.xlsx</a:t>
            </a:r>
          </a:p>
        </p:txBody>
      </p:sp>
      <p:sp>
        <p:nvSpPr>
          <p:cNvPr id="137" name="Rounded Rectangle 26">
            <a:extLst>
              <a:ext uri="{FF2B5EF4-FFF2-40B4-BE49-F238E27FC236}">
                <a16:creationId xmlns:a16="http://schemas.microsoft.com/office/drawing/2014/main" id="{529BB0DC-D620-EC52-D4C5-0EBFC1381C25}"/>
              </a:ext>
            </a:extLst>
          </p:cNvPr>
          <p:cNvSpPr/>
          <p:nvPr/>
        </p:nvSpPr>
        <p:spPr>
          <a:xfrm>
            <a:off x="5374564" y="6046479"/>
            <a:ext cx="2060094" cy="65836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900" b="0" dirty="0">
                <a:solidFill>
                  <a:srgbClr val="0F172A"/>
                </a:solidFill>
                <a:latin typeface="Yu Gothic"/>
              </a:rPr>
              <a:t>merge_region_summaries.py</a:t>
            </a:r>
            <a:endParaRPr sz="900" b="0" dirty="0">
              <a:solidFill>
                <a:srgbClr val="0F172A"/>
              </a:solidFill>
              <a:latin typeface="Yu Gothic"/>
            </a:endParaRP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2CAFAA3C-AD96-56F0-329B-AD48E52E562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2057400" y="1609340"/>
            <a:ext cx="4092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3E65812F-459B-FF3E-3834-1A8C75371891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 flipH="1">
            <a:off x="3862441" y="3385341"/>
            <a:ext cx="51101" cy="944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1376CBB5-B4B7-50EF-ABE4-3228F7048712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4982581" y="4659049"/>
            <a:ext cx="385038" cy="589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A4B48E66-97B9-7F91-6D2C-8083B7AFCC8D}"/>
              </a:ext>
            </a:extLst>
          </p:cNvPr>
          <p:cNvCxnSpPr>
            <a:cxnSpLocks/>
            <a:stCxn id="26" idx="2"/>
            <a:endCxn id="137" idx="0"/>
          </p:cNvCxnSpPr>
          <p:nvPr/>
        </p:nvCxnSpPr>
        <p:spPr>
          <a:xfrm>
            <a:off x="6396319" y="5728720"/>
            <a:ext cx="8292" cy="317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9FADDA36-DBFA-4857-0794-63409554C139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7425019" y="4840896"/>
            <a:ext cx="898040" cy="407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F0C2D962-1AF6-2F0E-F970-DC139AB66EC7}"/>
              </a:ext>
            </a:extLst>
          </p:cNvPr>
          <p:cNvCxnSpPr>
            <a:cxnSpLocks/>
            <a:stCxn id="24" idx="1"/>
            <a:endCxn id="26" idx="3"/>
          </p:cNvCxnSpPr>
          <p:nvPr/>
        </p:nvCxnSpPr>
        <p:spPr>
          <a:xfrm flipH="1" flipV="1">
            <a:off x="7425019" y="5248660"/>
            <a:ext cx="410134" cy="344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CD4177A1-5FCA-7575-B83C-22D27225CDB9}"/>
              </a:ext>
            </a:extLst>
          </p:cNvPr>
          <p:cNvCxnSpPr>
            <a:cxnSpLocks/>
          </p:cNvCxnSpPr>
          <p:nvPr/>
        </p:nvCxnSpPr>
        <p:spPr>
          <a:xfrm>
            <a:off x="7976349" y="3303045"/>
            <a:ext cx="40281" cy="1945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116C086-F898-FF76-BFDB-5565D1C2B592}"/>
              </a:ext>
            </a:extLst>
          </p:cNvPr>
          <p:cNvCxnSpPr>
            <a:cxnSpLocks/>
          </p:cNvCxnSpPr>
          <p:nvPr/>
        </p:nvCxnSpPr>
        <p:spPr>
          <a:xfrm>
            <a:off x="9288585" y="4165987"/>
            <a:ext cx="0" cy="358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A98E9E17-6065-CF9A-F3E9-3F89E1E8C7E1}"/>
              </a:ext>
            </a:extLst>
          </p:cNvPr>
          <p:cNvCxnSpPr>
            <a:cxnSpLocks/>
          </p:cNvCxnSpPr>
          <p:nvPr/>
        </p:nvCxnSpPr>
        <p:spPr>
          <a:xfrm>
            <a:off x="11715751" y="1577340"/>
            <a:ext cx="0" cy="2006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FFA876F5-23B5-50F8-61D9-8105044C1EB2}"/>
              </a:ext>
            </a:extLst>
          </p:cNvPr>
          <p:cNvCxnSpPr>
            <a:cxnSpLocks/>
          </p:cNvCxnSpPr>
          <p:nvPr/>
        </p:nvCxnSpPr>
        <p:spPr>
          <a:xfrm>
            <a:off x="11263931" y="2226647"/>
            <a:ext cx="0" cy="484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5EA64657-58FB-05B8-A924-23DC25EA5104}"/>
              </a:ext>
            </a:extLst>
          </p:cNvPr>
          <p:cNvCxnSpPr>
            <a:cxnSpLocks/>
            <a:stCxn id="17" idx="1"/>
            <a:endCxn id="19" idx="3"/>
          </p:cNvCxnSpPr>
          <p:nvPr/>
        </p:nvCxnSpPr>
        <p:spPr>
          <a:xfrm flipH="1" flipV="1">
            <a:off x="9614868" y="3037869"/>
            <a:ext cx="428292" cy="2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6C0CC6E4-663D-23F6-327D-882DA03D030D}"/>
              </a:ext>
            </a:extLst>
          </p:cNvPr>
          <p:cNvCxnSpPr>
            <a:cxnSpLocks/>
            <a:stCxn id="16" idx="1"/>
            <a:endCxn id="18" idx="3"/>
          </p:cNvCxnSpPr>
          <p:nvPr/>
        </p:nvCxnSpPr>
        <p:spPr>
          <a:xfrm flipH="1">
            <a:off x="9631679" y="3912558"/>
            <a:ext cx="411481" cy="1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F654A7B1-A1FA-A5A8-F26E-FA3862C01B58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5870983" y="1320592"/>
            <a:ext cx="525336" cy="3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5B1FFDD4-4EC3-CCFD-A663-4FF1D7E7DAFA}"/>
              </a:ext>
            </a:extLst>
          </p:cNvPr>
          <p:cNvCxnSpPr>
            <a:cxnSpLocks/>
          </p:cNvCxnSpPr>
          <p:nvPr/>
        </p:nvCxnSpPr>
        <p:spPr>
          <a:xfrm>
            <a:off x="5852374" y="1976002"/>
            <a:ext cx="525336" cy="3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68B3E875-4803-9F75-B9A0-D8F61E01C659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7920319" y="1323865"/>
            <a:ext cx="377190" cy="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7C591703-E334-9CFA-3BE4-EA70E0B68C46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943848" y="1981917"/>
            <a:ext cx="386382" cy="3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876B3A18-BFB4-6E73-6515-D0178F5A7746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9821509" y="1305214"/>
            <a:ext cx="343127" cy="1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7AF77F38-759B-2DCD-72A4-7B8C85621793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9835180" y="1977610"/>
            <a:ext cx="329457" cy="43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6C31EBB5-17AF-480D-61BD-014DB0363AD7}"/>
              </a:ext>
            </a:extLst>
          </p:cNvPr>
          <p:cNvCxnSpPr>
            <a:cxnSpLocks/>
          </p:cNvCxnSpPr>
          <p:nvPr/>
        </p:nvCxnSpPr>
        <p:spPr>
          <a:xfrm flipV="1">
            <a:off x="3402553" y="1625638"/>
            <a:ext cx="387726" cy="15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C9E82DDD-74EA-1DD4-7390-2D603720AF74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790279" y="1320592"/>
            <a:ext cx="556704" cy="305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2658F951-CF28-1AD2-775B-6EEAD9E8F71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790279" y="1633493"/>
            <a:ext cx="556705" cy="361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89B528F0-B901-D5B6-77E1-680FD542B1F4}"/>
              </a:ext>
            </a:extLst>
          </p:cNvPr>
          <p:cNvCxnSpPr>
            <a:cxnSpLocks/>
            <a:stCxn id="20" idx="1"/>
            <a:endCxn id="22" idx="3"/>
          </p:cNvCxnSpPr>
          <p:nvPr/>
        </p:nvCxnSpPr>
        <p:spPr>
          <a:xfrm flipH="1">
            <a:off x="4827942" y="2788025"/>
            <a:ext cx="394435" cy="313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3330A9BE-05E8-CBBC-CA7D-2C421D453139}"/>
              </a:ext>
            </a:extLst>
          </p:cNvPr>
          <p:cNvCxnSpPr>
            <a:cxnSpLocks/>
            <a:stCxn id="21" idx="1"/>
            <a:endCxn id="22" idx="3"/>
          </p:cNvCxnSpPr>
          <p:nvPr/>
        </p:nvCxnSpPr>
        <p:spPr>
          <a:xfrm flipH="1" flipV="1">
            <a:off x="4827942" y="3101877"/>
            <a:ext cx="400495" cy="329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2B6CC3AB-C03A-5003-4D3D-98F7D2FBFA65}"/>
              </a:ext>
            </a:extLst>
          </p:cNvPr>
          <p:cNvCxnSpPr>
            <a:cxnSpLocks/>
            <a:stCxn id="19" idx="1"/>
            <a:endCxn id="20" idx="3"/>
          </p:cNvCxnSpPr>
          <p:nvPr/>
        </p:nvCxnSpPr>
        <p:spPr>
          <a:xfrm flipH="1" flipV="1">
            <a:off x="7233392" y="2788025"/>
            <a:ext cx="478944" cy="249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1F697D39-60CD-AFEA-7867-8A60AFE8C1C0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flipH="1">
            <a:off x="7277205" y="3037869"/>
            <a:ext cx="435131" cy="393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6A77C0F2-C530-24D9-03C6-3B041303B4A6}"/>
              </a:ext>
            </a:extLst>
          </p:cNvPr>
          <p:cNvCxnSpPr>
            <a:cxnSpLocks/>
            <a:stCxn id="137" idx="1"/>
            <a:endCxn id="27" idx="3"/>
          </p:cNvCxnSpPr>
          <p:nvPr/>
        </p:nvCxnSpPr>
        <p:spPr>
          <a:xfrm flipH="1" flipV="1">
            <a:off x="4068181" y="6090894"/>
            <a:ext cx="1306383" cy="284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Yu Gothic"/>
              </a:rPr>
              <a:t>手順説明（日本語）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latin typeface="Yu Gothic"/>
              </a:defRPr>
            </a:pPr>
            <a:r>
              <a:rPr dirty="0"/>
              <a:t>1) input/ に PDF / DOCX / XLS / XLSX </a:t>
            </a:r>
            <a:r>
              <a:rPr dirty="0" err="1"/>
              <a:t>を配置</a:t>
            </a:r>
            <a:endParaRPr dirty="0"/>
          </a:p>
          <a:p>
            <a:pPr algn="l">
              <a:defRPr sz="1500">
                <a:latin typeface="Yu Gothic"/>
              </a:defRPr>
            </a:pPr>
            <a:r>
              <a:rPr dirty="0"/>
              <a:t>2) text_extractor.py: input -&gt; results/output1 (</a:t>
            </a:r>
            <a:r>
              <a:rPr dirty="0" err="1"/>
              <a:t>抽出ログ出力</a:t>
            </a:r>
            <a:r>
              <a:rPr dirty="0"/>
              <a:t>)</a:t>
            </a:r>
          </a:p>
          <a:p>
            <a:pPr algn="l">
              <a:defRPr sz="1500">
                <a:latin typeface="Yu Gothic"/>
              </a:defRPr>
            </a:pPr>
            <a:r>
              <a:rPr dirty="0"/>
              <a:t>3) hybrid_extraction.py: input -&gt; results/test1 (</a:t>
            </a:r>
            <a:r>
              <a:rPr dirty="0" err="1"/>
              <a:t>抽出ログ出力</a:t>
            </a:r>
            <a:r>
              <a:rPr dirty="0"/>
              <a:t>)</a:t>
            </a:r>
          </a:p>
          <a:p>
            <a:pPr algn="l">
              <a:defRPr sz="1500">
                <a:latin typeface="Yu Gothic"/>
              </a:defRPr>
            </a:pPr>
            <a:r>
              <a:rPr dirty="0"/>
              <a:t>4) text_cleaner.py: output1 -&gt; output2</a:t>
            </a:r>
          </a:p>
          <a:p>
            <a:pPr algn="l">
              <a:defRPr sz="1500">
                <a:latin typeface="Yu Gothic"/>
              </a:defRPr>
            </a:pPr>
            <a:r>
              <a:rPr dirty="0"/>
              <a:t>5) text_cleaner.py: test1 -&gt; test2</a:t>
            </a:r>
          </a:p>
          <a:p>
            <a:pPr algn="l">
              <a:defRPr sz="1500">
                <a:latin typeface="Yu Gothic"/>
              </a:defRPr>
            </a:pPr>
            <a:r>
              <a:rPr dirty="0"/>
              <a:t>6) post_clean_output3.py: output2 -&gt; output3</a:t>
            </a:r>
          </a:p>
          <a:p>
            <a:pPr algn="l">
              <a:defRPr sz="1500">
                <a:latin typeface="Yu Gothic"/>
              </a:defRPr>
            </a:pPr>
            <a:r>
              <a:rPr dirty="0"/>
              <a:t>7) post_clean_output3.py: test2 -&gt; test3</a:t>
            </a:r>
          </a:p>
          <a:p>
            <a:pPr algn="l">
              <a:defRPr sz="1500">
                <a:latin typeface="Yu Gothic"/>
              </a:defRPr>
            </a:pPr>
            <a:r>
              <a:rPr dirty="0"/>
              <a:t>8) merge_86_texts.py: results/test3/【86】近畿 -&gt; results/test4/【86】近畿</a:t>
            </a:r>
          </a:p>
          <a:p>
            <a:pPr algn="l">
              <a:defRPr sz="1500">
                <a:latin typeface="Yu Gothic"/>
              </a:defRPr>
            </a:pPr>
            <a:r>
              <a:rPr dirty="0"/>
              <a:t>9) merge_89_texts.py: results/test3/【89】九州 -&gt; results/test4/【89】九州</a:t>
            </a:r>
          </a:p>
          <a:p>
            <a:pPr algn="l">
              <a:defRPr sz="1500">
                <a:latin typeface="Yu Gothic"/>
              </a:defRPr>
            </a:pPr>
            <a:r>
              <a:rPr dirty="0"/>
              <a:t>10) dsl_engine.py + </a:t>
            </a:r>
            <a:r>
              <a:rPr dirty="0" err="1"/>
              <a:t>script群を入力系統ごとに実行</a:t>
            </a:r>
            <a:endParaRPr dirty="0"/>
          </a:p>
          <a:p>
            <a:pPr algn="l">
              <a:defRPr sz="1500">
                <a:latin typeface="Yu Gothic"/>
              </a:defRPr>
            </a:pPr>
            <a:r>
              <a:rPr dirty="0"/>
              <a:t>    - output3系: 82, 83, 84, 87, 88, 90</a:t>
            </a:r>
          </a:p>
          <a:p>
            <a:pPr algn="l">
              <a:defRPr sz="1500">
                <a:latin typeface="Yu Gothic"/>
              </a:defRPr>
            </a:pPr>
            <a:r>
              <a:rPr dirty="0"/>
              <a:t>    - test3系: 85, 810-819</a:t>
            </a:r>
          </a:p>
          <a:p>
            <a:pPr algn="l">
              <a:defRPr sz="1500">
                <a:latin typeface="Yu Gothic"/>
              </a:defRPr>
            </a:pPr>
            <a:r>
              <a:rPr dirty="0"/>
              <a:t>    - test4系: 86, 89</a:t>
            </a:r>
          </a:p>
          <a:p>
            <a:pPr algn="l">
              <a:defRPr sz="1500">
                <a:latin typeface="Yu Gothic"/>
              </a:defRPr>
            </a:pPr>
            <a:r>
              <a:rPr dirty="0"/>
              <a:t>11) </a:t>
            </a:r>
            <a:r>
              <a:rPr dirty="0" err="1"/>
              <a:t>出力</a:t>
            </a:r>
            <a:r>
              <a:rPr dirty="0"/>
              <a:t>: results/csv/&lt;</a:t>
            </a:r>
            <a:r>
              <a:rPr dirty="0" err="1"/>
              <a:t>地域</a:t>
            </a:r>
            <a:r>
              <a:rPr dirty="0"/>
              <a:t>&gt;/*.csv, *_all_texts_summary.csv, *_levels_summary.csv</a:t>
            </a:r>
          </a:p>
          <a:p>
            <a:pPr algn="l">
              <a:defRPr sz="1500">
                <a:latin typeface="Yu Gothic"/>
              </a:defRPr>
            </a:pPr>
            <a:r>
              <a:rPr dirty="0"/>
              <a:t>12) </a:t>
            </a:r>
            <a:r>
              <a:rPr dirty="0" err="1"/>
              <a:t>任意</a:t>
            </a:r>
            <a:r>
              <a:rPr dirty="0"/>
              <a:t>: merge_region_summaries.py </a:t>
            </a:r>
            <a:r>
              <a:rPr dirty="0" err="1"/>
              <a:t>で地域サマリExcelを作成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556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Yu Gothic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ヤダフ アーユシュ</cp:lastModifiedBy>
  <cp:revision>6</cp:revision>
  <dcterms:created xsi:type="dcterms:W3CDTF">2013-01-27T09:14:16Z</dcterms:created>
  <dcterms:modified xsi:type="dcterms:W3CDTF">2026-03-10T07:45:37Z</dcterms:modified>
  <cp:category/>
</cp:coreProperties>
</file>