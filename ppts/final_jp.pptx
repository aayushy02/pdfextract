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878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プロジェクト処理フロ</a:t>
            </a:r>
            <a:r>
              <a:rPr dirty="0"/>
              <a:t>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2373" y="220693"/>
            <a:ext cx="7104355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入力収集</a:t>
            </a:r>
            <a:r>
              <a:rPr dirty="0"/>
              <a:t> → </a:t>
            </a:r>
            <a:r>
              <a:rPr dirty="0" err="1"/>
              <a:t>抽出</a:t>
            </a:r>
            <a:r>
              <a:rPr dirty="0"/>
              <a:t> → </a:t>
            </a:r>
            <a:r>
              <a:rPr dirty="0" err="1"/>
              <a:t>クリーニング</a:t>
            </a:r>
            <a:r>
              <a:rPr dirty="0"/>
              <a:t>/</a:t>
            </a:r>
            <a:r>
              <a:rPr dirty="0" err="1"/>
              <a:t>後処理</a:t>
            </a:r>
            <a:r>
              <a:rPr dirty="0"/>
              <a:t> → 86/89統合分岐 → </a:t>
            </a:r>
            <a:r>
              <a:rPr dirty="0" err="1"/>
              <a:t>DSL抽出</a:t>
            </a:r>
            <a:r>
              <a:rPr dirty="0"/>
              <a:t> → CSV/Excel → </a:t>
            </a:r>
            <a:r>
              <a:rPr dirty="0" err="1"/>
              <a:t>統合Excel分岐</a:t>
            </a:r>
            <a:r>
              <a:rPr dirty="0"/>
              <a:t> → </a:t>
            </a:r>
            <a:r>
              <a:rPr dirty="0" err="1"/>
              <a:t>完了</a:t>
            </a:r>
            <a:endParaRPr dirty="0"/>
          </a:p>
        </p:txBody>
      </p:sp>
      <p:sp>
        <p:nvSpPr>
          <p:cNvPr id="5" name="Terminator 4"/>
          <p:cNvSpPr/>
          <p:nvPr/>
        </p:nvSpPr>
        <p:spPr>
          <a:xfrm>
            <a:off x="2596896" y="576431"/>
            <a:ext cx="6967728" cy="310896"/>
          </a:xfrm>
          <a:prstGeom prst="flowChartTerminator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開始: 入力準備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input/ に地域フォルダを作成し資料を配置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1879" y="1091062"/>
            <a:ext cx="5254338" cy="391505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4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入力収集</a:t>
            </a:r>
            <a:endParaRPr dirty="0"/>
          </a:p>
          <a:p>
            <a:pPr algn="ctr">
              <a:defRPr sz="94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input/ </a:t>
            </a:r>
            <a:r>
              <a:rPr dirty="0" err="1"/>
              <a:t>を再帰走査して</a:t>
            </a:r>
            <a:r>
              <a:rPr dirty="0"/>
              <a:t> PDF（+</a:t>
            </a:r>
            <a:r>
              <a:rPr dirty="0" err="1"/>
              <a:t>必要時</a:t>
            </a:r>
            <a:r>
              <a:rPr dirty="0"/>
              <a:t> DOCX/XLS/</a:t>
            </a:r>
            <a:r>
              <a:rPr dirty="0" err="1"/>
              <a:t>XLSX）を収集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471879" y="1708864"/>
            <a:ext cx="5254338" cy="512064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テキスト抽出</a:t>
            </a:r>
            <a:endParaRPr dirty="0"/>
          </a:p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text_extractor.py / hybrid_extraction.py</a:t>
            </a:r>
          </a:p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PyMuPDFで抽出し</a:t>
            </a:r>
            <a:r>
              <a:rPr dirty="0"/>
              <a:t> output1 / test1 </a:t>
            </a:r>
            <a:r>
              <a:rPr dirty="0" err="1"/>
              <a:t>へ保存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471879" y="2418372"/>
            <a:ext cx="5254338" cy="548640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クリーニング</a:t>
            </a:r>
            <a:r>
              <a:rPr dirty="0"/>
              <a:t> + </a:t>
            </a:r>
            <a:r>
              <a:rPr dirty="0" err="1"/>
              <a:t>後処理</a:t>
            </a:r>
            <a:endParaRPr dirty="0"/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text_cleaner.py → post_clean_output3.py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NFKC正規化・空白</a:t>
            </a:r>
            <a:r>
              <a:rPr dirty="0"/>
              <a:t>/</a:t>
            </a:r>
            <a:r>
              <a:rPr dirty="0" err="1"/>
              <a:t>記号調整・表保護・行結合</a:t>
            </a:r>
            <a:endParaRPr dirty="0"/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output1→output2→output3 / test1→test2→test3</a:t>
            </a:r>
          </a:p>
        </p:txBody>
      </p:sp>
      <p:sp>
        <p:nvSpPr>
          <p:cNvPr id="9" name="Diamond 8"/>
          <p:cNvSpPr/>
          <p:nvPr/>
        </p:nvSpPr>
        <p:spPr>
          <a:xfrm>
            <a:off x="4535424" y="3155744"/>
            <a:ext cx="3127248" cy="713232"/>
          </a:xfrm>
          <a:prstGeom prst="diamond">
            <a:avLst/>
          </a:prstGeom>
          <a:solidFill>
            <a:srgbClr val="DCEFDA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rPr dirty="0"/>
              <a:t>判定1: 86/89で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複数ファイル統合が必要</a:t>
            </a:r>
            <a:r>
              <a:rPr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3156010"/>
            <a:ext cx="2468880" cy="694944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88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はい</a:t>
            </a:r>
            <a:r>
              <a:rPr dirty="0"/>
              <a:t>: merge_86_texts.py /</a:t>
            </a:r>
          </a:p>
          <a:p>
            <a:pPr algn="ctr">
              <a:defRPr sz="88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merge_89_texts.py </a:t>
            </a:r>
            <a:r>
              <a:rPr dirty="0" err="1"/>
              <a:t>を実行し</a:t>
            </a:r>
            <a:endParaRPr dirty="0"/>
          </a:p>
          <a:p>
            <a:pPr algn="ctr">
              <a:defRPr sz="88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results/test4 </a:t>
            </a:r>
            <a:r>
              <a:rPr dirty="0" err="1"/>
              <a:t>を生成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435303" y="4028587"/>
            <a:ext cx="5290914" cy="530352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DSL入力配置</a:t>
            </a:r>
          </a:p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output3: 82,83,84,87,88,90</a:t>
            </a:r>
          </a:p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test3: 85,810-819 / test4: 86,89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279" y="4721641"/>
            <a:ext cx="5236938" cy="566928"/>
          </a:xfrm>
          <a:prstGeom prst="roundRect">
            <a:avLst/>
          </a:prstGeom>
          <a:solidFill>
            <a:srgbClr val="E4F1FC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DSL抽出と成果物</a:t>
            </a:r>
            <a:endParaRPr dirty="0"/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rPr dirty="0"/>
              <a:t> dsl_engine.py + &lt;region&gt;_</a:t>
            </a:r>
            <a:r>
              <a:rPr dirty="0" err="1"/>
              <a:t>script.dsl</a:t>
            </a:r>
            <a:endParaRPr dirty="0"/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rPr dirty="0"/>
              <a:t>results/csv/&lt;</a:t>
            </a:r>
            <a:r>
              <a:rPr dirty="0" err="1"/>
              <a:t>地域</a:t>
            </a:r>
            <a:r>
              <a:rPr dirty="0"/>
              <a:t>&gt; に CSV/</a:t>
            </a:r>
            <a:r>
              <a:rPr dirty="0" err="1"/>
              <a:t>XLSX・all_texts</a:t>
            </a:r>
            <a:r>
              <a:rPr dirty="0"/>
              <a:t>/levels </a:t>
            </a:r>
            <a:r>
              <a:rPr dirty="0" err="1"/>
              <a:t>を出力</a:t>
            </a:r>
            <a:endParaRPr dirty="0"/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rPr dirty="0"/>
              <a:t>levels は L0/L1/L2 + pageNo、koujime再評価（86/89除外）</a:t>
            </a:r>
          </a:p>
        </p:txBody>
      </p:sp>
      <p:sp>
        <p:nvSpPr>
          <p:cNvPr id="13" name="Diamond 12"/>
          <p:cNvSpPr/>
          <p:nvPr/>
        </p:nvSpPr>
        <p:spPr>
          <a:xfrm>
            <a:off x="4544568" y="5504738"/>
            <a:ext cx="3127248" cy="713232"/>
          </a:xfrm>
          <a:prstGeom prst="diamond">
            <a:avLst/>
          </a:prstGeom>
          <a:solidFill>
            <a:srgbClr val="DCEFDA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判定2: 統合Excelを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作成する?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5506057"/>
            <a:ext cx="2468880" cy="694944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880" b="0">
                <a:solidFill>
                  <a:srgbClr val="232323"/>
                </a:solidFill>
                <a:latin typeface="Meiryo UI"/>
              </a:defRPr>
            </a:pPr>
            <a:r>
              <a:rPr dirty="0" err="1"/>
              <a:t>はい</a:t>
            </a:r>
            <a:r>
              <a:rPr dirty="0"/>
              <a:t>: merge_region_summaries.py</a:t>
            </a:r>
          </a:p>
          <a:p>
            <a:pPr algn="ctr">
              <a:defRPr sz="880" b="0">
                <a:solidFill>
                  <a:srgbClr val="232323"/>
                </a:solidFill>
                <a:latin typeface="Meiryo UI"/>
              </a:defRPr>
            </a:pPr>
            <a:r>
              <a:rPr dirty="0"/>
              <a:t>merged_*_summary_*.xlsx </a:t>
            </a:r>
            <a:r>
              <a:rPr dirty="0" err="1"/>
              <a:t>を作成</a:t>
            </a:r>
            <a:endParaRPr dirty="0"/>
          </a:p>
        </p:txBody>
      </p:sp>
      <p:sp>
        <p:nvSpPr>
          <p:cNvPr id="15" name="Terminator 14"/>
          <p:cNvSpPr/>
          <p:nvPr/>
        </p:nvSpPr>
        <p:spPr>
          <a:xfrm>
            <a:off x="2619756" y="6425085"/>
            <a:ext cx="6967728" cy="310896"/>
          </a:xfrm>
          <a:prstGeom prst="flowChartTerminator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完了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地域別CSV/Excel作成・次回入力待ち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227" y="1202482"/>
            <a:ext cx="2148840" cy="1783080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860" b="0">
                <a:solidFill>
                  <a:srgbClr val="232323"/>
                </a:solidFill>
                <a:latin typeface="Meiryo UI"/>
              </a:defRPr>
            </a:pPr>
            <a:r>
              <a:rPr sz="1200"/>
              <a:t>補足</a:t>
            </a:r>
          </a:p>
          <a:p>
            <a:pPr algn="ctr">
              <a:defRPr sz="860" b="0">
                <a:solidFill>
                  <a:srgbClr val="232323"/>
                </a:solidFill>
                <a:latin typeface="Meiryo UI"/>
              </a:defRPr>
            </a:pPr>
            <a:r>
              <a:rPr sz="1200"/>
              <a:t>・成果物: &lt;案件&gt;.csv / .xlsx</a:t>
            </a:r>
          </a:p>
          <a:p>
            <a:pPr algn="ctr">
              <a:defRPr sz="860" b="0">
                <a:solidFill>
                  <a:srgbClr val="232323"/>
                </a:solidFill>
                <a:latin typeface="Meiryo UI"/>
              </a:defRPr>
            </a:pPr>
            <a:r>
              <a:rPr sz="1200"/>
              <a:t>・*_all_texts_summary</a:t>
            </a:r>
          </a:p>
          <a:p>
            <a:pPr algn="ctr">
              <a:defRPr sz="860" b="0">
                <a:solidFill>
                  <a:srgbClr val="232323"/>
                </a:solidFill>
                <a:latin typeface="Meiryo UI"/>
              </a:defRPr>
            </a:pPr>
            <a:r>
              <a:rPr sz="1200"/>
              <a:t>・*_levels_summary</a:t>
            </a:r>
          </a:p>
          <a:p>
            <a:pPr algn="ctr">
              <a:defRPr sz="860" b="0">
                <a:solidFill>
                  <a:srgbClr val="232323"/>
                </a:solidFill>
                <a:latin typeface="Meiryo UI"/>
              </a:defRPr>
            </a:pPr>
            <a:r>
              <a:rPr sz="1200"/>
              <a:t>・No分岐は次工程へ直進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761" y="3960731"/>
            <a:ext cx="2148840" cy="1627632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defRPr sz="850" b="0">
                <a:solidFill>
                  <a:srgbClr val="232323"/>
                </a:solidFill>
                <a:latin typeface="Meiryo UI"/>
              </a:defRPr>
            </a:pPr>
            <a:r>
              <a:rPr sz="1100"/>
              <a:t>実行モード</a:t>
            </a:r>
          </a:p>
          <a:p>
            <a:pPr algn="ctr">
              <a:defRPr sz="850" b="0">
                <a:solidFill>
                  <a:srgbClr val="232323"/>
                </a:solidFill>
                <a:latin typeface="Meiryo UI"/>
              </a:defRPr>
            </a:pPr>
            <a:r>
              <a:rPr sz="1100"/>
              <a:t>A) run_regions_pipeline.ps1</a:t>
            </a:r>
          </a:p>
          <a:p>
            <a:pPr algn="ctr">
              <a:defRPr sz="850" b="0">
                <a:solidFill>
                  <a:srgbClr val="232323"/>
                </a:solidFill>
                <a:latin typeface="Meiryo UI"/>
              </a:defRPr>
            </a:pPr>
            <a:r>
              <a:rPr sz="1100"/>
              <a:t>既存 output3/test3/test4 から DSL再実行</a:t>
            </a:r>
          </a:p>
          <a:p>
            <a:pPr algn="ctr">
              <a:defRPr sz="850" b="0">
                <a:solidFill>
                  <a:srgbClr val="232323"/>
                </a:solidFill>
                <a:latin typeface="Meiryo UI"/>
              </a:defRPr>
            </a:pPr>
            <a:r>
              <a:rPr sz="1100"/>
              <a:t>B) run_pipeline.ps1</a:t>
            </a:r>
          </a:p>
          <a:p>
            <a:pPr algn="ctr">
              <a:defRPr sz="850" b="0">
                <a:solidFill>
                  <a:srgbClr val="232323"/>
                </a:solidFill>
                <a:latin typeface="Meiryo UI"/>
              </a:defRPr>
            </a:pPr>
            <a:r>
              <a:rPr sz="1100"/>
              <a:t>抽出→清掃→統合→DSL を一括実行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4787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いいえ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289766"/>
            <a:ext cx="384707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rPr dirty="0" err="1"/>
              <a:t>はい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8252482" y="5623065"/>
            <a:ext cx="303173" cy="1938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rPr dirty="0" err="1"/>
              <a:t>はい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333950" y="3829063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rPr dirty="0" err="1"/>
              <a:t>いいえ</a:t>
            </a:r>
            <a:endParaRPr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ED7213-3F85-55AA-83DD-5FB84C82F2F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80760" y="887327"/>
            <a:ext cx="18288" cy="203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3F371B-02A5-6397-06F6-4E6B3C336B7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9048" y="1482567"/>
            <a:ext cx="0" cy="226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9CC25EF-CB35-645C-6DA4-9FE3D353797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099048" y="2220928"/>
            <a:ext cx="0" cy="19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CB5F7A6-7BED-5BE5-12B0-007AE9F0845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099048" y="2967012"/>
            <a:ext cx="0" cy="188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3DF4019-4115-C587-911A-95B54D7A8CD8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6080760" y="3868976"/>
            <a:ext cx="18288" cy="1596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7F0ED1F-8E84-F085-83A0-7FF124FBFC8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6080760" y="4558939"/>
            <a:ext cx="26988" cy="162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D8989C5-4A77-0EA7-1DF6-C7E34651B8E2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6107748" y="5288569"/>
            <a:ext cx="444" cy="216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7B56E14-2DB4-0726-1690-A30D4889AF61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6103620" y="6217970"/>
            <a:ext cx="4572" cy="207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5E4DB4D-812B-E078-0ABB-A66F7DBA9A0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7662672" y="3503482"/>
            <a:ext cx="1709928" cy="8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FA454A0-76B9-F19F-C1D6-19F4F36587DF}"/>
              </a:ext>
            </a:extLst>
          </p:cNvPr>
          <p:cNvCxnSpPr>
            <a:stCxn id="10" idx="2"/>
            <a:endCxn id="11" idx="3"/>
          </p:cNvCxnSpPr>
          <p:nvPr/>
        </p:nvCxnSpPr>
        <p:spPr>
          <a:xfrm rot="5400000">
            <a:off x="9445225" y="3131947"/>
            <a:ext cx="442809" cy="18808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57712B5-E753-73FC-C222-F2EFC1DE9FD9}"/>
              </a:ext>
            </a:extLst>
          </p:cNvPr>
          <p:cNvSpPr txBox="1"/>
          <p:nvPr/>
        </p:nvSpPr>
        <p:spPr>
          <a:xfrm>
            <a:off x="6214872" y="6183718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rPr dirty="0" err="1"/>
              <a:t>いいえ</a:t>
            </a:r>
            <a:endParaRPr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14769C9-E657-EE07-3821-FB933941C3D0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671816" y="5853529"/>
            <a:ext cx="1700784" cy="7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557C100D-95A7-8091-9228-6B839E05085F}"/>
              </a:ext>
            </a:extLst>
          </p:cNvPr>
          <p:cNvCxnSpPr>
            <a:stCxn id="14" idx="2"/>
            <a:endCxn id="15" idx="3"/>
          </p:cNvCxnSpPr>
          <p:nvPr/>
        </p:nvCxnSpPr>
        <p:spPr>
          <a:xfrm rot="5400000">
            <a:off x="9907496" y="5880989"/>
            <a:ext cx="379532" cy="10195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282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Meiryo UI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ヤダフ アーユシュ</cp:lastModifiedBy>
  <cp:revision>9</cp:revision>
  <dcterms:created xsi:type="dcterms:W3CDTF">2013-01-27T09:14:16Z</dcterms:created>
  <dcterms:modified xsi:type="dcterms:W3CDTF">2026-03-12T01:33:01Z</dcterms:modified>
  <cp:category/>
</cp:coreProperties>
</file>