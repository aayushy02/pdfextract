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1463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2904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" y="137160"/>
            <a:ext cx="9144000" cy="11924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82828"/>
                </a:solidFill>
                <a:latin typeface="Yu Gothic"/>
              </a:rPr>
              <a:t>プロジェクト処理フロー（同系色デザイン / 編集可能）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399" y="572262"/>
            <a:ext cx="7315200" cy="411480"/>
          </a:xfrm>
          <a:prstGeom prst="rect">
            <a:avLst/>
          </a:prstGeom>
          <a:solidFill>
            <a:srgbClr val="F4F4F4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282828"/>
                </a:solidFill>
                <a:latin typeface="Yu Gothic"/>
              </a:rPr>
              <a:t>フォルダ内の新規入力資料を確認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20343"/>
            <a:ext cx="7315200" cy="411480"/>
          </a:xfrm>
          <a:prstGeom prst="rect">
            <a:avLst/>
          </a:prstGeom>
          <a:solidFill>
            <a:srgbClr val="F4F4F4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282828"/>
                </a:solidFill>
                <a:latin typeface="Yu Gothic"/>
              </a:rPr>
              <a:t>input/ の PDF・DOCX・XLS・XLSX を収集</a:t>
            </a:r>
          </a:p>
        </p:txBody>
      </p:sp>
      <p:sp>
        <p:nvSpPr>
          <p:cNvPr id="6" name="Diamond 5"/>
          <p:cNvSpPr/>
          <p:nvPr/>
        </p:nvSpPr>
        <p:spPr>
          <a:xfrm>
            <a:off x="1943100" y="2003708"/>
            <a:ext cx="5257799" cy="708659"/>
          </a:xfrm>
          <a:prstGeom prst="diamond">
            <a:avLst/>
          </a:prstGeom>
          <a:solidFill>
            <a:srgbClr val="DCEFD9"/>
          </a:solidFill>
          <a:ln w="15240">
            <a:solidFill>
              <a:srgbClr val="6C8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282828"/>
                </a:solidFill>
                <a:latin typeface="Yu Gothic"/>
              </a:rPr>
              <a:t>入力対象ファイルがあるか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2108834"/>
            <a:ext cx="1371600" cy="502920"/>
          </a:xfrm>
          <a:prstGeom prst="rect">
            <a:avLst/>
          </a:prstGeom>
          <a:solidFill>
            <a:srgbClr val="F4F4F4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 dirty="0" err="1">
                <a:solidFill>
                  <a:srgbClr val="282828"/>
                </a:solidFill>
                <a:latin typeface="Yu Gothic"/>
              </a:rPr>
              <a:t>入力待ち</a:t>
            </a:r>
            <a:r>
              <a:rPr sz="1000" b="0" dirty="0">
                <a:solidFill>
                  <a:srgbClr val="282828"/>
                </a:solidFill>
                <a:latin typeface="Yu Gothic"/>
              </a:rPr>
              <a:t>
</a:t>
            </a:r>
            <a:r>
              <a:rPr sz="1000" b="0" dirty="0" err="1">
                <a:solidFill>
                  <a:srgbClr val="282828"/>
                </a:solidFill>
                <a:latin typeface="Yu Gothic"/>
              </a:rPr>
              <a:t>終了</a:t>
            </a:r>
            <a:endParaRPr sz="1000" b="0" dirty="0">
              <a:solidFill>
                <a:srgbClr val="282828"/>
              </a:solidFill>
              <a:latin typeface="Yu Gothic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400" y="3073554"/>
            <a:ext cx="7315197" cy="461773"/>
          </a:xfrm>
          <a:prstGeom prst="rect">
            <a:avLst/>
          </a:prstGeom>
          <a:solidFill>
            <a:srgbClr val="F4F4F4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282828"/>
                </a:solidFill>
                <a:latin typeface="Yu Gothic"/>
              </a:rPr>
              <a:t>text_extractor.py / hybrid_extraction.py を実行
results/output1 と results/test1 を生成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929637" y="3824858"/>
            <a:ext cx="7315200" cy="548641"/>
          </a:xfrm>
          <a:prstGeom prst="rect">
            <a:avLst/>
          </a:prstGeom>
          <a:solidFill>
            <a:srgbClr val="F4F4F4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 dirty="0">
                <a:solidFill>
                  <a:srgbClr val="282828"/>
                </a:solidFill>
                <a:latin typeface="Yu Gothic"/>
              </a:rPr>
              <a:t>text_cleaner.py
output1-&gt;output2 / test1-&gt;test2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617721"/>
            <a:ext cx="7315200" cy="579473"/>
          </a:xfrm>
          <a:prstGeom prst="rect">
            <a:avLst/>
          </a:prstGeom>
          <a:solidFill>
            <a:srgbClr val="F4F4F4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 dirty="0">
                <a:solidFill>
                  <a:srgbClr val="282828"/>
                </a:solidFill>
                <a:latin typeface="Yu Gothic"/>
              </a:rPr>
              <a:t>post_clean_output3.py
output2-&gt;output3 / test2-&gt;test3</a:t>
            </a:r>
          </a:p>
        </p:txBody>
      </p:sp>
      <p:sp>
        <p:nvSpPr>
          <p:cNvPr id="11" name="Diamond 10"/>
          <p:cNvSpPr/>
          <p:nvPr/>
        </p:nvSpPr>
        <p:spPr>
          <a:xfrm>
            <a:off x="1920240" y="5440680"/>
            <a:ext cx="5303520" cy="777240"/>
          </a:xfrm>
          <a:prstGeom prst="diamond">
            <a:avLst/>
          </a:prstGeom>
          <a:solidFill>
            <a:srgbClr val="DCEFD9"/>
          </a:solidFill>
          <a:ln w="15240">
            <a:solidFill>
              <a:srgbClr val="6C8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282828"/>
                </a:solidFill>
                <a:latin typeface="Yu Gothic"/>
              </a:rPr>
              <a:t>86/89 のマージ対象があるか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50480" y="5622798"/>
            <a:ext cx="1417320" cy="419452"/>
          </a:xfrm>
          <a:prstGeom prst="rect">
            <a:avLst/>
          </a:prstGeom>
          <a:solidFill>
            <a:srgbClr val="F4F4F4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 dirty="0">
                <a:solidFill>
                  <a:srgbClr val="282828"/>
                </a:solidFill>
                <a:latin typeface="Yu Gothic"/>
              </a:rPr>
              <a:t>merge_86_texts.py
merge_89_texts.py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6857998"/>
            <a:ext cx="7315200" cy="502922"/>
          </a:xfrm>
          <a:prstGeom prst="rect">
            <a:avLst/>
          </a:prstGeom>
          <a:solidFill>
            <a:srgbClr val="F4F4F4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282828"/>
                </a:solidFill>
                <a:latin typeface="Yu Gothic"/>
              </a:rPr>
              <a:t>dsl_engine.py（主系統）
output3: 82,83,84,87,88,90 / test3: 85,810-819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6240018"/>
            <a:ext cx="1737360" cy="480060"/>
          </a:xfrm>
          <a:prstGeom prst="rect">
            <a:avLst/>
          </a:prstGeom>
          <a:solidFill>
            <a:srgbClr val="F4F4F4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 dirty="0">
                <a:solidFill>
                  <a:srgbClr val="282828"/>
                </a:solidFill>
                <a:latin typeface="Yu Gothic"/>
              </a:rPr>
              <a:t>dsl_engine.py
(86/89)
input:test4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2018" y="7662672"/>
            <a:ext cx="7315200" cy="475486"/>
          </a:xfrm>
          <a:prstGeom prst="rect">
            <a:avLst/>
          </a:prstGeom>
          <a:solidFill>
            <a:srgbClr val="F4F4F4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282828"/>
                </a:solidFill>
                <a:latin typeface="Yu Gothic"/>
              </a:rPr>
              <a:t>results/csv/&lt;地域&gt;
&lt;name&gt;.csv / *_all_texts_summary.csv / *_levels_summary.csv</a:t>
            </a:r>
          </a:p>
        </p:txBody>
      </p:sp>
      <p:sp>
        <p:nvSpPr>
          <p:cNvPr id="16" name="Diamond 15"/>
          <p:cNvSpPr/>
          <p:nvPr/>
        </p:nvSpPr>
        <p:spPr>
          <a:xfrm>
            <a:off x="1920240" y="8549640"/>
            <a:ext cx="5303520" cy="777240"/>
          </a:xfrm>
          <a:prstGeom prst="diamond">
            <a:avLst/>
          </a:prstGeom>
          <a:solidFill>
            <a:srgbClr val="DCEFD9"/>
          </a:solidFill>
          <a:ln w="15240">
            <a:solidFill>
              <a:srgbClr val="6C8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282828"/>
                </a:solidFill>
                <a:latin typeface="Yu Gothic"/>
              </a:rPr>
              <a:t>Excel統合を作成するか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9637" y="9708054"/>
            <a:ext cx="7315200" cy="357788"/>
          </a:xfrm>
          <a:prstGeom prst="rect">
            <a:avLst/>
          </a:prstGeom>
          <a:solidFill>
            <a:srgbClr val="F4F4F4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282828"/>
                </a:solidFill>
                <a:latin typeface="Yu Gothic"/>
              </a:rPr>
              <a:t>merge_region_summaries.py（任意）
merged_*_summary_*.xlsx を生成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10469880"/>
            <a:ext cx="4389120" cy="502920"/>
          </a:xfrm>
          <a:prstGeom prst="rect">
            <a:avLst/>
          </a:prstGeom>
          <a:solidFill>
            <a:srgbClr val="F4F4F4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282828"/>
                </a:solidFill>
                <a:latin typeface="Yu Gothic"/>
              </a:rPr>
              <a:t>処理完了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6279" y="6420310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900" b="1" dirty="0">
                <a:solidFill>
                  <a:srgbClr val="282828"/>
                </a:solidFill>
                <a:latin typeface="Yu Gothic"/>
              </a:rPr>
              <a:t>いいえ</a:t>
            </a:r>
            <a:endParaRPr sz="900" b="1" dirty="0">
              <a:solidFill>
                <a:srgbClr val="282828"/>
              </a:solidFill>
              <a:latin typeface="Yu Gothic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029449" y="5611065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900" b="1" dirty="0">
                <a:solidFill>
                  <a:srgbClr val="282828"/>
                </a:solidFill>
                <a:latin typeface="Yu Gothic"/>
              </a:rPr>
              <a:t>はい</a:t>
            </a:r>
            <a:endParaRPr sz="900" b="1" dirty="0">
              <a:solidFill>
                <a:srgbClr val="282828"/>
              </a:solidFill>
              <a:latin typeface="Yu Gothic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457700" y="9359027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900" b="1" dirty="0">
                <a:solidFill>
                  <a:srgbClr val="282828"/>
                </a:solidFill>
                <a:latin typeface="Yu Gothic"/>
              </a:rPr>
              <a:t>はい</a:t>
            </a:r>
            <a:endParaRPr sz="900" b="1" dirty="0">
              <a:solidFill>
                <a:srgbClr val="282828"/>
              </a:solidFill>
              <a:latin typeface="Yu Gothic"/>
            </a:endParaRPr>
          </a:p>
        </p:txBody>
      </p:sp>
      <p:sp>
        <p:nvSpPr>
          <p:cNvPr id="59" name="Isosceles Triangle 58"/>
          <p:cNvSpPr/>
          <p:nvPr/>
        </p:nvSpPr>
        <p:spPr>
          <a:xfrm rot="10800000">
            <a:off x="6720840" y="10675619"/>
            <a:ext cx="91440" cy="91440"/>
          </a:xfrm>
          <a:prstGeom prst="triangle">
            <a:avLst/>
          </a:prstGeom>
          <a:solidFill>
            <a:srgbClr val="2C5D7F"/>
          </a:solidFill>
          <a:ln>
            <a:solidFill>
              <a:srgbClr val="2C5D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437120" y="8641200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900" b="1" dirty="0">
                <a:solidFill>
                  <a:srgbClr val="282828"/>
                </a:solidFill>
                <a:latin typeface="Yu Gothic"/>
              </a:rPr>
              <a:t>いいえ</a:t>
            </a:r>
            <a:endParaRPr sz="900" b="1" dirty="0">
              <a:solidFill>
                <a:srgbClr val="282828"/>
              </a:solidFill>
              <a:latin typeface="Yu Gothic"/>
            </a:endParaRP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D956A26C-8BBD-2E0B-262D-B1D66E815D9A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4571999" y="983742"/>
            <a:ext cx="1" cy="2366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84B901E0-1BAC-6D1C-8129-11D809365DD7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4572000" y="1631823"/>
            <a:ext cx="1" cy="379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ECDF785-B618-99AE-2AB7-17092BEC7E9D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4571999" y="2712367"/>
            <a:ext cx="1" cy="3611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AADD2648-233D-EC1A-EE71-8F03270068DA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7200899" y="2358038"/>
            <a:ext cx="388621" cy="22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FA51B54C-68AB-8D62-BBE8-362F6E01D938}"/>
              </a:ext>
            </a:extLst>
          </p:cNvPr>
          <p:cNvSpPr txBox="1"/>
          <p:nvPr/>
        </p:nvSpPr>
        <p:spPr>
          <a:xfrm>
            <a:off x="6903720" y="2114931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900" b="1" dirty="0">
                <a:solidFill>
                  <a:srgbClr val="282828"/>
                </a:solidFill>
                <a:latin typeface="Yu Gothic"/>
              </a:rPr>
              <a:t>いいえ</a:t>
            </a:r>
            <a:endParaRPr sz="900" b="1" dirty="0">
              <a:solidFill>
                <a:srgbClr val="282828"/>
              </a:solidFill>
              <a:latin typeface="Yu Gothic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3680B67-8BD7-7C15-DF59-FBB5EB921A16}"/>
              </a:ext>
            </a:extLst>
          </p:cNvPr>
          <p:cNvSpPr txBox="1"/>
          <p:nvPr/>
        </p:nvSpPr>
        <p:spPr>
          <a:xfrm>
            <a:off x="4526280" y="2761488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900" b="1" dirty="0">
                <a:solidFill>
                  <a:srgbClr val="282828"/>
                </a:solidFill>
                <a:latin typeface="Yu Gothic"/>
              </a:rPr>
              <a:t>はい</a:t>
            </a:r>
            <a:endParaRPr lang="en-US" altLang="ja-JP" sz="900" b="1" dirty="0">
              <a:solidFill>
                <a:srgbClr val="282828"/>
              </a:solidFill>
              <a:latin typeface="Yu Gothic"/>
            </a:endParaRP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1972623-285B-786F-AC90-1C7A0CF8D823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4571999" y="3535327"/>
            <a:ext cx="15238" cy="289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4D05469E-9439-D7CC-76B0-F53A7F577D3F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4587237" y="4373499"/>
            <a:ext cx="0" cy="243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54016788-E32E-FE70-A745-1F85BD5B330E}"/>
              </a:ext>
            </a:extLst>
          </p:cNvPr>
          <p:cNvCxnSpPr>
            <a:cxnSpLocks/>
          </p:cNvCxnSpPr>
          <p:nvPr/>
        </p:nvCxnSpPr>
        <p:spPr>
          <a:xfrm>
            <a:off x="4579618" y="5197194"/>
            <a:ext cx="0" cy="243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DC30ACBB-42A7-D300-FA4C-7353BF154849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7223760" y="5829300"/>
            <a:ext cx="426720" cy="32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601F0C91-DEF5-5249-F360-3ED3CCE78085}"/>
              </a:ext>
            </a:extLst>
          </p:cNvPr>
          <p:cNvCxnSpPr>
            <a:stCxn id="12" idx="2"/>
          </p:cNvCxnSpPr>
          <p:nvPr/>
        </p:nvCxnSpPr>
        <p:spPr>
          <a:xfrm>
            <a:off x="8359140" y="6042250"/>
            <a:ext cx="0" cy="1977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21FDDE93-5D3D-9513-5242-C8750CF51229}"/>
              </a:ext>
            </a:extLst>
          </p:cNvPr>
          <p:cNvCxnSpPr>
            <a:cxnSpLocks/>
            <a:endCxn id="13" idx="3"/>
          </p:cNvCxnSpPr>
          <p:nvPr/>
        </p:nvCxnSpPr>
        <p:spPr>
          <a:xfrm rot="5400000">
            <a:off x="8217791" y="6731888"/>
            <a:ext cx="389381" cy="36576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C555903B-683C-A106-A20F-84EB54157E96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4572000" y="6217920"/>
            <a:ext cx="0" cy="6400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4602398B-C91B-77C1-5A1F-0624F2E8BAA7}"/>
              </a:ext>
            </a:extLst>
          </p:cNvPr>
          <p:cNvCxnSpPr>
            <a:stCxn id="13" idx="2"/>
            <a:endCxn id="15" idx="0"/>
          </p:cNvCxnSpPr>
          <p:nvPr/>
        </p:nvCxnSpPr>
        <p:spPr>
          <a:xfrm>
            <a:off x="4572000" y="7360920"/>
            <a:ext cx="7618" cy="3017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6FA82105-9E01-B063-D9BC-E70CCD1C4E5F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 flipH="1">
            <a:off x="4572000" y="8138158"/>
            <a:ext cx="7618" cy="4114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08E7B155-DAD0-2322-8DA5-332B76A3B656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>
            <a:off x="4572000" y="9326880"/>
            <a:ext cx="15237" cy="3811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CE6149B6-4217-CB06-C11A-E59E9802FE0F}"/>
              </a:ext>
            </a:extLst>
          </p:cNvPr>
          <p:cNvCxnSpPr>
            <a:stCxn id="17" idx="2"/>
            <a:endCxn id="18" idx="0"/>
          </p:cNvCxnSpPr>
          <p:nvPr/>
        </p:nvCxnSpPr>
        <p:spPr>
          <a:xfrm flipH="1">
            <a:off x="4572000" y="10065842"/>
            <a:ext cx="15237" cy="4040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9FCCF026-E19F-EBE6-AEC9-670ACC2EC013}"/>
              </a:ext>
            </a:extLst>
          </p:cNvPr>
          <p:cNvCxnSpPr>
            <a:cxnSpLocks/>
            <a:stCxn id="16" idx="3"/>
            <a:endCxn id="59" idx="1"/>
          </p:cNvCxnSpPr>
          <p:nvPr/>
        </p:nvCxnSpPr>
        <p:spPr>
          <a:xfrm flipH="1">
            <a:off x="6789420" y="8938260"/>
            <a:ext cx="434340" cy="1783079"/>
          </a:xfrm>
          <a:prstGeom prst="bentConnector3">
            <a:avLst>
              <a:gd name="adj1" fmla="val -32807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170</Words>
  <Application>Microsoft Office PowerPoint</Application>
  <PresentationFormat>Custom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Yu Gothic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ヤダフ アーユシュ</dc:creator>
  <cp:keywords/>
  <dc:description>generated using python-pptx</dc:description>
  <cp:lastModifiedBy>ヤダフ アーユシュ</cp:lastModifiedBy>
  <cp:revision>2</cp:revision>
  <dcterms:created xsi:type="dcterms:W3CDTF">2013-01-27T09:14:16Z</dcterms:created>
  <dcterms:modified xsi:type="dcterms:W3CDTF">2026-03-10T08:25:03Z</dcterms:modified>
  <cp:category/>
</cp:coreProperties>
</file>