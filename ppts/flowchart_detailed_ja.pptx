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11960352" cy="6583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プロジェクト処理フロ</a:t>
            </a:r>
            <a:r>
              <a:rPr dirty="0"/>
              <a:t>ー（</a:t>
            </a:r>
            <a:r>
              <a:rPr dirty="0" err="1"/>
              <a:t>詳細版</a:t>
            </a:r>
            <a:r>
              <a:rPr dirty="0"/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520" y="512064"/>
            <a:ext cx="11490960" cy="243143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見やすい全体図</a:t>
            </a:r>
            <a:r>
              <a:rPr dirty="0"/>
              <a:t>: </a:t>
            </a:r>
            <a:r>
              <a:rPr dirty="0" err="1"/>
              <a:t>入力</a:t>
            </a:r>
            <a:r>
              <a:rPr dirty="0"/>
              <a:t> → </a:t>
            </a:r>
            <a:r>
              <a:rPr dirty="0" err="1"/>
              <a:t>抽出</a:t>
            </a:r>
            <a:r>
              <a:rPr dirty="0"/>
              <a:t> → </a:t>
            </a:r>
            <a:r>
              <a:rPr dirty="0" err="1"/>
              <a:t>クリーニング</a:t>
            </a:r>
            <a:r>
              <a:rPr dirty="0"/>
              <a:t> → </a:t>
            </a:r>
            <a:r>
              <a:rPr dirty="0" err="1"/>
              <a:t>後処理</a:t>
            </a:r>
            <a:r>
              <a:rPr dirty="0"/>
              <a:t> → 86/89統合 → </a:t>
            </a:r>
            <a:r>
              <a:rPr dirty="0" err="1"/>
              <a:t>DSL抽出</a:t>
            </a:r>
            <a:r>
              <a:rPr dirty="0"/>
              <a:t> → CSV/Excel</a:t>
            </a:r>
          </a:p>
        </p:txBody>
      </p:sp>
      <p:sp>
        <p:nvSpPr>
          <p:cNvPr id="5" name="Terminator 4"/>
          <p:cNvSpPr/>
          <p:nvPr/>
        </p:nvSpPr>
        <p:spPr>
          <a:xfrm>
            <a:off x="1925260" y="786384"/>
            <a:ext cx="8182984" cy="301752"/>
          </a:xfrm>
          <a:prstGeom prst="flowChartTerminator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1) input/ </a:t>
            </a:r>
            <a:r>
              <a:rPr dirty="0" err="1"/>
              <a:t>に地域フォルダ（例</a:t>
            </a:r>
            <a:r>
              <a:rPr dirty="0"/>
              <a:t>: 【82】東北）を作成し、PDFを配置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5260" y="1338789"/>
            <a:ext cx="8407460" cy="398571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2) text_extractor.py / hybrid_extraction.py</a:t>
            </a:r>
          </a:p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入力PDFからテキスト抽出（output1 / test1）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8381" y="2012935"/>
            <a:ext cx="8344339" cy="402336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3) text_cleaner.py → post_clean_output3.py</a:t>
            </a:r>
          </a:p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output1→output2→output3 / test1→test2→test3</a:t>
            </a:r>
          </a:p>
        </p:txBody>
      </p:sp>
      <p:sp>
        <p:nvSpPr>
          <p:cNvPr id="8" name="Diamond 7"/>
          <p:cNvSpPr/>
          <p:nvPr/>
        </p:nvSpPr>
        <p:spPr>
          <a:xfrm>
            <a:off x="4087996" y="2586497"/>
            <a:ext cx="4114800" cy="749808"/>
          </a:xfrm>
          <a:prstGeom prst="diamond">
            <a:avLst/>
          </a:prstGeom>
          <a:solidFill>
            <a:srgbClr val="DCEFDA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100" b="1">
                <a:solidFill>
                  <a:srgbClr val="232323"/>
                </a:solidFill>
                <a:latin typeface="Meiryo UI"/>
              </a:defRPr>
            </a:pPr>
            <a:r>
              <a:t>4) 判定: 86/89は</a:t>
            </a:r>
          </a:p>
          <a:p>
            <a:pPr algn="ctr">
              <a:defRPr sz="1100" b="1">
                <a:solidFill>
                  <a:srgbClr val="232323"/>
                </a:solidFill>
                <a:latin typeface="Meiryo UI"/>
              </a:defRPr>
            </a:pPr>
            <a:r>
              <a:t>複数ファイル統合が必要か？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5260" y="3561814"/>
            <a:ext cx="8407460" cy="364683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5) merge_86_texts.py / merge_89_texts.py を実行し test4 を生成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39156" y="4171815"/>
            <a:ext cx="8412480" cy="361457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6) dsl_engine.py で地域DSLを適用し、CSV/XLSXを results/csv に出力</a:t>
            </a:r>
          </a:p>
        </p:txBody>
      </p:sp>
      <p:sp>
        <p:nvSpPr>
          <p:cNvPr id="11" name="Diamond 10"/>
          <p:cNvSpPr/>
          <p:nvPr/>
        </p:nvSpPr>
        <p:spPr>
          <a:xfrm>
            <a:off x="4029729" y="4753178"/>
            <a:ext cx="4297680" cy="749808"/>
          </a:xfrm>
          <a:prstGeom prst="diamond">
            <a:avLst/>
          </a:prstGeom>
          <a:solidFill>
            <a:srgbClr val="DCEFDA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100" b="1">
                <a:solidFill>
                  <a:srgbClr val="232323"/>
                </a:solidFill>
                <a:latin typeface="Meiryo UI"/>
              </a:defRPr>
            </a:pPr>
            <a:r>
              <a:t>7) 判定: 統合Excelを</a:t>
            </a:r>
          </a:p>
          <a:p>
            <a:pPr algn="ctr">
              <a:defRPr sz="1100" b="1">
                <a:solidFill>
                  <a:srgbClr val="232323"/>
                </a:solidFill>
                <a:latin typeface="Meiryo UI"/>
              </a:defRPr>
            </a:pPr>
            <a:r>
              <a:t>作成するか？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5722892"/>
            <a:ext cx="8412480" cy="29718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8) </a:t>
            </a:r>
            <a:r>
              <a:rPr dirty="0" err="1"/>
              <a:t>merge_region_summaries.py（任意</a:t>
            </a:r>
            <a:r>
              <a:rPr dirty="0"/>
              <a:t>）→ </a:t>
            </a:r>
            <a:r>
              <a:rPr dirty="0" err="1"/>
              <a:t>統合サマリExcel作成</a:t>
            </a:r>
            <a:endParaRPr dirty="0"/>
          </a:p>
        </p:txBody>
      </p:sp>
      <p:sp>
        <p:nvSpPr>
          <p:cNvPr id="13" name="Terminator 12"/>
          <p:cNvSpPr/>
          <p:nvPr/>
        </p:nvSpPr>
        <p:spPr>
          <a:xfrm>
            <a:off x="1925260" y="6295464"/>
            <a:ext cx="8412480" cy="325686"/>
          </a:xfrm>
          <a:prstGeom prst="flowChartTerminator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Meiryo UI"/>
              </a:defRPr>
            </a:pPr>
            <a:r>
              <a:rPr dirty="0"/>
              <a:t>9) </a:t>
            </a:r>
            <a:r>
              <a:rPr dirty="0" err="1"/>
              <a:t>完了（次回入力待ち</a:t>
            </a:r>
            <a:r>
              <a:rPr dirty="0"/>
              <a:t>）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5376" y="1084460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6012180" y="1755648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6012180" y="3331241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6012180" y="3922776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6018549" y="4529150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6016752" y="6021772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361229"/>
            <a:ext cx="731520" cy="21236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900" b="0">
                <a:solidFill>
                  <a:srgbClr val="366080"/>
                </a:solidFill>
                <a:latin typeface="Meiryo UI"/>
              </a:defRPr>
            </a:pP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はい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607462" y="2714741"/>
            <a:ext cx="731520" cy="21236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900" b="0">
                <a:solidFill>
                  <a:srgbClr val="366080"/>
                </a:solidFill>
                <a:latin typeface="Meiryo UI"/>
              </a:defRPr>
            </a:pP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いいえ</a:t>
            </a:r>
            <a:endParaRPr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79916" y="6083098"/>
            <a:ext cx="731520" cy="21236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900" b="0">
                <a:solidFill>
                  <a:srgbClr val="366080"/>
                </a:solidFill>
                <a:latin typeface="Meiryo UI"/>
              </a:defRPr>
            </a:pPr>
            <a:r>
              <a:rPr lang="ja-JP" altLang="en-US" dirty="0"/>
              <a:t>はい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8755380" y="4919244"/>
            <a:ext cx="731520" cy="21236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900" b="0">
                <a:solidFill>
                  <a:srgbClr val="366080"/>
                </a:solidFill>
                <a:latin typeface="Meiryo UI"/>
              </a:defRPr>
            </a:pP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いいえ</a:t>
            </a:r>
            <a:endParaRPr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A7D15DA-5932-9AA5-A5A2-41610468F300}"/>
              </a:ext>
            </a:extLst>
          </p:cNvPr>
          <p:cNvCxnSpPr>
            <a:cxnSpLocks/>
            <a:stCxn id="8" idx="3"/>
            <a:endCxn id="10" idx="3"/>
          </p:cNvCxnSpPr>
          <p:nvPr/>
        </p:nvCxnSpPr>
        <p:spPr>
          <a:xfrm>
            <a:off x="8202796" y="2961401"/>
            <a:ext cx="2148840" cy="1391143"/>
          </a:xfrm>
          <a:prstGeom prst="bentConnector3">
            <a:avLst>
              <a:gd name="adj1" fmla="val 1106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own Arrow 15">
            <a:extLst>
              <a:ext uri="{FF2B5EF4-FFF2-40B4-BE49-F238E27FC236}">
                <a16:creationId xmlns:a16="http://schemas.microsoft.com/office/drawing/2014/main" id="{4332A48C-2F21-50DF-3F07-36B6E3854046}"/>
              </a:ext>
            </a:extLst>
          </p:cNvPr>
          <p:cNvSpPr/>
          <p:nvPr/>
        </p:nvSpPr>
        <p:spPr>
          <a:xfrm>
            <a:off x="6004560" y="2427642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own Arrow 17">
            <a:extLst>
              <a:ext uri="{FF2B5EF4-FFF2-40B4-BE49-F238E27FC236}">
                <a16:creationId xmlns:a16="http://schemas.microsoft.com/office/drawing/2014/main" id="{5A4F9E75-32B9-DFA8-0330-D530E3E09356}"/>
              </a:ext>
            </a:extLst>
          </p:cNvPr>
          <p:cNvSpPr/>
          <p:nvPr/>
        </p:nvSpPr>
        <p:spPr>
          <a:xfrm>
            <a:off x="6030109" y="5490972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245F426F-465D-89A7-0C20-BD21BAE82085}"/>
              </a:ext>
            </a:extLst>
          </p:cNvPr>
          <p:cNvCxnSpPr>
            <a:cxnSpLocks/>
            <a:stCxn id="11" idx="3"/>
            <a:endCxn id="13" idx="3"/>
          </p:cNvCxnSpPr>
          <p:nvPr/>
        </p:nvCxnSpPr>
        <p:spPr>
          <a:xfrm>
            <a:off x="8327409" y="5128082"/>
            <a:ext cx="2010331" cy="1330225"/>
          </a:xfrm>
          <a:prstGeom prst="bentConnector3">
            <a:avLst>
              <a:gd name="adj1" fmla="val 1113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13364A2-4182-EB58-F3F2-9EA4ABE3C251}"/>
              </a:ext>
            </a:extLst>
          </p:cNvPr>
          <p:cNvSpPr txBox="1"/>
          <p:nvPr/>
        </p:nvSpPr>
        <p:spPr>
          <a:xfrm>
            <a:off x="6487309" y="5468095"/>
            <a:ext cx="731520" cy="21236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900" b="0">
                <a:solidFill>
                  <a:srgbClr val="366080"/>
                </a:solidFill>
                <a:latin typeface="Meiryo UI"/>
              </a:defRPr>
            </a:pPr>
            <a:r>
              <a:rPr lang="ja-JP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はい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11960352" cy="6583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eiryo UI"/>
              </a:defRPr>
            </a:pPr>
            <a:r>
              <a:t>抽出・クリーニング・後処理（詳細）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52144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PyMuPDF抽出 / cleaner関数 / 複数ページ表のセル連結ルール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868680"/>
            <a:ext cx="6400800" cy="338328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input/ </a:t>
            </a:r>
            <a:r>
              <a:rPr dirty="0" err="1"/>
              <a:t>を再帰走査し、PDF</a:t>
            </a:r>
            <a:r>
              <a:rPr dirty="0"/>
              <a:t>（+</a:t>
            </a:r>
            <a:r>
              <a:rPr dirty="0" err="1"/>
              <a:t>必要に応じ</a:t>
            </a:r>
            <a:r>
              <a:rPr dirty="0"/>
              <a:t> DOCX/XLS/</a:t>
            </a:r>
            <a:r>
              <a:rPr dirty="0" err="1"/>
              <a:t>XLSX）を収集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6400800" cy="530352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text_extractor.py / hybrid_extraction.py</a:t>
            </a:r>
          </a:p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PyMuPDF（fitz）でテキスト抽出し .txt 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6400800" cy="342900"/>
          </a:xfrm>
          <a:prstGeom prst="roundRect">
            <a:avLst/>
          </a:prstGeom>
          <a:solidFill>
            <a:srgbClr val="E4F1FC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output1 / test1 </a:t>
            </a:r>
            <a:r>
              <a:rPr dirty="0" err="1"/>
              <a:t>に保存（input</a:t>
            </a:r>
            <a:r>
              <a:rPr dirty="0"/>
              <a:t> </a:t>
            </a:r>
            <a:r>
              <a:rPr dirty="0" err="1"/>
              <a:t>と同じフォルダ構造を維持</a:t>
            </a:r>
            <a:r>
              <a:rPr dirty="0"/>
              <a:t>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54096"/>
            <a:ext cx="6400800" cy="443484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text_cleaner.py: output1→output2 / test1→test2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867912"/>
            <a:ext cx="6400800" cy="406908"/>
          </a:xfrm>
          <a:prstGeom prst="roundRect">
            <a:avLst/>
          </a:prstGeom>
          <a:solidFill>
            <a:srgbClr val="E4F1FC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output2 / test2（フォルダ構造は output1 / test1 </a:t>
            </a:r>
            <a:r>
              <a:rPr dirty="0" err="1"/>
              <a:t>と同じ</a:t>
            </a:r>
            <a:r>
              <a:rPr dirty="0"/>
              <a:t>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553712"/>
            <a:ext cx="6400800" cy="425196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post_clean_output3.py: output2→output3 / test2→test3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321808"/>
            <a:ext cx="6400800" cy="475488"/>
          </a:xfrm>
          <a:prstGeom prst="roundRect">
            <a:avLst/>
          </a:prstGeom>
          <a:solidFill>
            <a:srgbClr val="FFF9D6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複数ページ表の統合: 列数/構造を比較し、</a:t>
            </a:r>
          </a:p>
          <a:p>
            <a:pPr algn="ctr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分断された同一セルの内容を連結</a:t>
            </a:r>
          </a:p>
        </p:txBody>
      </p:sp>
      <p:sp>
        <p:nvSpPr>
          <p:cNvPr id="12" name="Terminator 11"/>
          <p:cNvSpPr/>
          <p:nvPr/>
        </p:nvSpPr>
        <p:spPr>
          <a:xfrm>
            <a:off x="594360" y="6108192"/>
            <a:ext cx="6400800" cy="475488"/>
          </a:xfrm>
          <a:prstGeom prst="flowChartTerminator">
            <a:avLst/>
          </a:prstGeom>
          <a:solidFill>
            <a:srgbClr val="E4F1FC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1">
                <a:solidFill>
                  <a:srgbClr val="232323"/>
                </a:solidFill>
                <a:latin typeface="Meiryo UI"/>
              </a:defRPr>
            </a:pPr>
            <a:r>
              <a:t>output3 / test3 を生成（DSL前の最終テキスト）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611880" y="1220724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3611880" y="2093976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3611880" y="2793492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3611880" y="3497580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3611880" y="4273924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3611880" y="4988500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3611880" y="5787704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60920" y="2999232"/>
            <a:ext cx="4572000" cy="2011680"/>
          </a:xfrm>
          <a:prstGeom prst="rect">
            <a:avLst/>
          </a:prstGeom>
          <a:noFill/>
          <a:ln w="22860">
            <a:solidFill>
              <a:srgbClr val="CC2D2D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52360" y="3026664"/>
            <a:ext cx="438912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1000" b="1">
                <a:solidFill>
                  <a:srgbClr val="CC2D2D"/>
                </a:solidFill>
                <a:latin typeface="Meiryo UI"/>
              </a:defRPr>
            </a:pPr>
            <a:r>
              <a:t>text_cleaner の代表処理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3291840"/>
            <a:ext cx="4297680" cy="347472"/>
          </a:xfrm>
          <a:prstGeom prst="rect">
            <a:avLst/>
          </a:prstGeom>
          <a:solidFill>
            <a:srgbClr val="E1F1DA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・全角→半角（NFKC）/ 記号正規化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3675887"/>
            <a:ext cx="4297680" cy="347472"/>
          </a:xfrm>
          <a:prstGeom prst="rect">
            <a:avLst/>
          </a:prstGeom>
          <a:solidFill>
            <a:srgbClr val="E1F1DA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・空白圧縮 / 単位まわり空白調整 / ダッシュ正規化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4059936"/>
            <a:ext cx="4297680" cy="347472"/>
          </a:xfrm>
          <a:prstGeom prst="rect">
            <a:avLst/>
          </a:prstGeom>
          <a:solidFill>
            <a:srgbClr val="E1F1DA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・入札説明書の開始位置へ切り出し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4443984"/>
            <a:ext cx="4297680" cy="512064"/>
          </a:xfrm>
          <a:prstGeom prst="rect">
            <a:avLst/>
          </a:prstGeom>
          <a:solidFill>
            <a:srgbClr val="E1F1DA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・箇条書き行/段落行の折返しを結合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  （TABLEブロックは保護）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95160" y="3291840"/>
            <a:ext cx="365760" cy="0"/>
          </a:xfrm>
          <a:prstGeom prst="line">
            <a:avLst/>
          </a:prstGeom>
          <a:ln w="1651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360920" y="5230368"/>
            <a:ext cx="4572000" cy="1325880"/>
          </a:xfrm>
          <a:prstGeom prst="rect">
            <a:avLst/>
          </a:prstGeom>
          <a:solidFill>
            <a:srgbClr val="FFF9D6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post_clean_output3 の結合条件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・ページ境界の TABLE_START/TABLE_END を解析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・列数が一致または許容差内なら統合候補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・次ページ先頭行の非空セル集合 ⊆ 前ページ末行 なら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  同一セルの続きとして結合</a:t>
            </a:r>
          </a:p>
        </p:txBody>
      </p:sp>
      <p:cxnSp>
        <p:nvCxnSpPr>
          <p:cNvPr id="28" name="Connector 27"/>
          <p:cNvCxnSpPr>
            <a:cxnSpLocks/>
          </p:cNvCxnSpPr>
          <p:nvPr/>
        </p:nvCxnSpPr>
        <p:spPr>
          <a:xfrm>
            <a:off x="6995160" y="4745960"/>
            <a:ext cx="365760" cy="667288"/>
          </a:xfrm>
          <a:prstGeom prst="line">
            <a:avLst/>
          </a:prstGeom>
          <a:ln w="1651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11960352" cy="6583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eiryo UI"/>
              </a:defRPr>
            </a:pPr>
            <a:r>
              <a:t>86/89 の複数ファイル統合（test4生成）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52144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地域86・89は案件情報が2〜3ファイルに分割されるため、順序ルールで結合</a:t>
            </a:r>
          </a:p>
        </p:txBody>
      </p:sp>
      <p:sp>
        <p:nvSpPr>
          <p:cNvPr id="5" name="Diamond 4"/>
          <p:cNvSpPr/>
          <p:nvPr/>
        </p:nvSpPr>
        <p:spPr>
          <a:xfrm>
            <a:off x="3547872" y="832104"/>
            <a:ext cx="5212080" cy="658368"/>
          </a:xfrm>
          <a:prstGeom prst="diamond">
            <a:avLst/>
          </a:prstGeom>
          <a:solidFill>
            <a:srgbClr val="DCEFDA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1">
                <a:solidFill>
                  <a:srgbClr val="232323"/>
                </a:solidFill>
                <a:latin typeface="Meiryo UI"/>
              </a:defRPr>
            </a:pPr>
            <a:r>
              <a:t>判定: 86/89 の統合対象があるか？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2560320" cy="502920"/>
          </a:xfrm>
          <a:prstGeom prst="rect">
            <a:avLst/>
          </a:prstGeom>
          <a:solidFill>
            <a:srgbClr val="FFF9D6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No の場合: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統合をスキップして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t>そのままDSLへ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93892" y="1572768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5669280" cy="50292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Meiryo UI"/>
              </a:defRPr>
            </a:pPr>
            <a:r>
              <a:t>merge_86_texts.py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5486400" cy="50292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232323"/>
                </a:solidFill>
                <a:latin typeface="Meiryo UI"/>
              </a:defRPr>
            </a:pPr>
            <a:r>
              <a:t>merge_89_texts.py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5669280" cy="2331720"/>
          </a:xfrm>
          <a:prstGeom prst="rect">
            <a:avLst/>
          </a:prstGeom>
          <a:solidFill>
            <a:srgbClr val="FFF9D6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【86】順序（コード準拠）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通常トークンがある場合</a:t>
            </a:r>
            <a:r>
              <a:rPr dirty="0"/>
              <a:t>: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  1) 【</a:t>
            </a:r>
            <a:r>
              <a:rPr dirty="0" err="1"/>
              <a:t>個別_入札説明書</a:t>
            </a:r>
            <a:r>
              <a:rPr dirty="0"/>
              <a:t>】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  2) 【個別_入札説明書_別紙-4】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  3) 【個別_入札説明書_別紙-5】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fallback（本館系</a:t>
            </a:r>
            <a:r>
              <a:rPr dirty="0"/>
              <a:t>）: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  </a:t>
            </a:r>
            <a:r>
              <a:rPr dirty="0" err="1"/>
              <a:t>共通説明書</a:t>
            </a:r>
            <a:r>
              <a:rPr dirty="0"/>
              <a:t> → </a:t>
            </a:r>
            <a:r>
              <a:rPr dirty="0" err="1"/>
              <a:t>個別説明書</a:t>
            </a:r>
            <a:r>
              <a:rPr dirty="0"/>
              <a:t> → 別紙5 → </a:t>
            </a:r>
            <a:r>
              <a:rPr dirty="0" err="1"/>
              <a:t>その他</a:t>
            </a:r>
            <a:r>
              <a:rPr dirty="0"/>
              <a:t>(</a:t>
            </a:r>
            <a:r>
              <a:rPr dirty="0" err="1"/>
              <a:t>名前順</a:t>
            </a:r>
            <a:r>
              <a:rPr dirty="0"/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514600"/>
            <a:ext cx="5486400" cy="2331720"/>
          </a:xfrm>
          <a:prstGeom prst="rect">
            <a:avLst/>
          </a:prstGeom>
          <a:solidFill>
            <a:srgbClr val="FFF9D6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【89】順序（コード準拠）</a:t>
            </a:r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  1) </a:t>
            </a:r>
            <a:r>
              <a:rPr dirty="0" err="1"/>
              <a:t>ファイル名に「入札説明書</a:t>
            </a:r>
            <a:r>
              <a:rPr dirty="0"/>
              <a:t> / </a:t>
            </a:r>
            <a:r>
              <a:rPr dirty="0" err="1"/>
              <a:t>説明書」を含むものを優先</a:t>
            </a:r>
            <a:endParaRPr dirty="0"/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  2) </a:t>
            </a:r>
            <a:r>
              <a:rPr dirty="0" err="1"/>
              <a:t>次にファイル名の昇順</a:t>
            </a:r>
            <a:endParaRPr dirty="0"/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  3) </a:t>
            </a:r>
            <a:r>
              <a:rPr dirty="0" err="1"/>
              <a:t>最後に逆順へ反転して連結</a:t>
            </a:r>
            <a:endParaRPr dirty="0"/>
          </a:p>
          <a:p>
            <a:pPr algn="l">
              <a:defRPr sz="10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（former second file </a:t>
            </a:r>
            <a:r>
              <a:rPr dirty="0" err="1"/>
              <a:t>を先頭にするため</a:t>
            </a:r>
            <a:r>
              <a:rPr dirty="0"/>
              <a:t>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310128" y="4919472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8915400" y="4919472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5212080"/>
            <a:ext cx="5029200" cy="640080"/>
          </a:xfrm>
          <a:prstGeom prst="roundRect">
            <a:avLst/>
          </a:prstGeom>
          <a:solidFill>
            <a:srgbClr val="E4F1FC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結果: results/test4/【86】…/&lt;project&gt;/&lt;project&gt;.txt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5212080"/>
            <a:ext cx="4937760" cy="640080"/>
          </a:xfrm>
          <a:prstGeom prst="roundRect">
            <a:avLst/>
          </a:prstGeom>
          <a:solidFill>
            <a:srgbClr val="E4F1FC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結果</a:t>
            </a:r>
            <a:r>
              <a:rPr dirty="0"/>
              <a:t>: results/test4/【89】…/&lt;project&gt;/&lt;project&gt;.txt</a:t>
            </a:r>
          </a:p>
        </p:txBody>
      </p:sp>
      <p:sp>
        <p:nvSpPr>
          <p:cNvPr id="19" name="Terminator 18"/>
          <p:cNvSpPr/>
          <p:nvPr/>
        </p:nvSpPr>
        <p:spPr>
          <a:xfrm>
            <a:off x="3439760" y="6141361"/>
            <a:ext cx="5303520" cy="502920"/>
          </a:xfrm>
          <a:prstGeom prst="flowChartTerminator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1">
                <a:solidFill>
                  <a:srgbClr val="232323"/>
                </a:solidFill>
                <a:latin typeface="Meiryo UI"/>
              </a:defRPr>
            </a:pPr>
            <a:r>
              <a:rPr dirty="0"/>
              <a:t>test4（86/89）を DSL </a:t>
            </a:r>
            <a:r>
              <a:rPr dirty="0" err="1"/>
              <a:t>入力に使用</a:t>
            </a:r>
            <a:endParaRPr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2472C4-C046-6FFA-2183-2A341140DFAF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3108960" y="1161288"/>
            <a:ext cx="438912" cy="4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11E35B5-A642-12E9-6FB7-9E86FF5608C1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rot="16200000" flipH="1">
            <a:off x="4569940" y="4619780"/>
            <a:ext cx="289201" cy="275396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B2099B76-08FA-0839-76AF-0B5E8D88C4CC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7427440" y="4516240"/>
            <a:ext cx="289201" cy="29610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11960352" cy="6583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DSL抽出・地域配置・koujime</a:t>
            </a:r>
            <a:r>
              <a:rPr dirty="0"/>
              <a:t>/levels </a:t>
            </a:r>
            <a:r>
              <a:rPr dirty="0" err="1"/>
              <a:t>の意味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52144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ここで全地域のクリーンテキストから最終CSV/XLSXを生成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5897880" cy="960120"/>
          </a:xfrm>
          <a:prstGeom prst="roundRect">
            <a:avLst/>
          </a:prstGeom>
          <a:solidFill>
            <a:srgbClr val="E4F1FC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クリーン済みテキストの配置</a:t>
            </a:r>
          </a:p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・output3: 82,83,84,87,88,90</a:t>
            </a:r>
          </a:p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・test3: 85, 810〜819</a:t>
            </a:r>
          </a:p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・test4: 86,89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5897880" cy="786384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dsl_engine.py </a:t>
            </a:r>
            <a:r>
              <a:rPr dirty="0" err="1"/>
              <a:t>実行</a:t>
            </a:r>
            <a:endParaRPr dirty="0"/>
          </a:p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各地域の</a:t>
            </a:r>
            <a:r>
              <a:rPr dirty="0"/>
              <a:t> &lt;region&gt;_</a:t>
            </a:r>
            <a:r>
              <a:rPr dirty="0" err="1"/>
              <a:t>script.dsl</a:t>
            </a:r>
            <a:r>
              <a:rPr dirty="0"/>
              <a:t> </a:t>
            </a:r>
            <a:r>
              <a:rPr dirty="0" err="1"/>
              <a:t>を適用して項目抽出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02920" y="3291840"/>
            <a:ext cx="5897880" cy="865452"/>
          </a:xfrm>
          <a:prstGeom prst="rect">
            <a:avLst/>
          </a:prstGeom>
          <a:solidFill>
            <a:srgbClr val="FFF9D6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koujime（工事名）補正: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output3/test3/test4 の入力から、対応する output1/test1 側の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同名テキストを参照して工事名を再評価（86/89は除外）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80560"/>
            <a:ext cx="5897880" cy="865452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出力先</a:t>
            </a:r>
            <a:r>
              <a:rPr dirty="0"/>
              <a:t>: results/csv/&lt;</a:t>
            </a:r>
            <a:r>
              <a:rPr dirty="0" err="1"/>
              <a:t>地域</a:t>
            </a:r>
            <a:r>
              <a:rPr dirty="0"/>
              <a:t>&gt;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・&lt;</a:t>
            </a:r>
            <a:r>
              <a:rPr dirty="0" err="1"/>
              <a:t>案件</a:t>
            </a:r>
            <a:r>
              <a:rPr dirty="0"/>
              <a:t>&gt;.csv / &lt;</a:t>
            </a:r>
            <a:r>
              <a:rPr dirty="0" err="1"/>
              <a:t>案件</a:t>
            </a:r>
            <a:r>
              <a:rPr dirty="0"/>
              <a:t>&gt;.xlsx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・*_all_texts_summary.csv / *_levels_summary.csv（+xlsx）</a:t>
            </a:r>
          </a:p>
        </p:txBody>
      </p:sp>
      <p:sp>
        <p:nvSpPr>
          <p:cNvPr id="9" name="Terminator 8"/>
          <p:cNvSpPr/>
          <p:nvPr/>
        </p:nvSpPr>
        <p:spPr>
          <a:xfrm>
            <a:off x="502920" y="5669280"/>
            <a:ext cx="5897880" cy="752676"/>
          </a:xfrm>
          <a:prstGeom prst="flowChartTerminator">
            <a:avLst/>
          </a:prstGeom>
          <a:solidFill>
            <a:srgbClr val="E4F1FC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200" b="1">
                <a:solidFill>
                  <a:srgbClr val="232323"/>
                </a:solidFill>
                <a:latin typeface="Meiryo UI"/>
              </a:defRPr>
            </a:pPr>
            <a:r>
              <a:t>最終成果物: 地域ごとの抽出CSV + Excel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246120" y="1851660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3246120" y="2979151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3246120" y="4146714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3246120" y="5336958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13583" y="1271643"/>
            <a:ext cx="4741433" cy="4040393"/>
          </a:xfrm>
          <a:prstGeom prst="rect">
            <a:avLst/>
          </a:prstGeom>
          <a:solidFill>
            <a:srgbClr val="FFF9D6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levels_summary</a:t>
            </a:r>
            <a:r>
              <a:rPr dirty="0"/>
              <a:t> </a:t>
            </a:r>
            <a:r>
              <a:rPr dirty="0" err="1"/>
              <a:t>の意味（企業</a:t>
            </a:r>
            <a:r>
              <a:rPr dirty="0"/>
              <a:t>/</a:t>
            </a:r>
            <a:r>
              <a:rPr dirty="0" err="1"/>
              <a:t>技術者それぞれ</a:t>
            </a:r>
            <a:r>
              <a:rPr dirty="0"/>
              <a:t>）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レベル0: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  「</a:t>
            </a:r>
            <a:r>
              <a:rPr dirty="0" err="1"/>
              <a:t>同種性が認められる」または「同種性</a:t>
            </a:r>
            <a:r>
              <a:rPr dirty="0"/>
              <a:t>」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レベル1: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  「</a:t>
            </a:r>
            <a:r>
              <a:rPr dirty="0" err="1"/>
              <a:t>同種性が高い」または「やや同種性が高い工事</a:t>
            </a:r>
            <a:r>
              <a:rPr dirty="0"/>
              <a:t>」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レベル2: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  「</a:t>
            </a:r>
            <a:r>
              <a:rPr dirty="0" err="1"/>
              <a:t>より同種性が高い</a:t>
            </a:r>
            <a:r>
              <a:rPr dirty="0"/>
              <a:t>」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endParaRPr dirty="0"/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各レベルで</a:t>
            </a:r>
            <a:r>
              <a:rPr dirty="0"/>
              <a:t> </a:t>
            </a:r>
            <a:r>
              <a:rPr dirty="0" err="1"/>
              <a:t>pageNo</a:t>
            </a:r>
            <a:r>
              <a:rPr dirty="0"/>
              <a:t> </a:t>
            </a:r>
            <a:r>
              <a:rPr dirty="0" err="1"/>
              <a:t>も同時に出力</a:t>
            </a:r>
            <a:r>
              <a:rPr dirty="0"/>
              <a:t>。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値が無い場合は「記載なし</a:t>
            </a:r>
            <a:r>
              <a:rPr dirty="0"/>
              <a:t>」。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10663" y="3623982"/>
            <a:ext cx="502920" cy="201168"/>
          </a:xfrm>
          <a:prstGeom prst="right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11960352" cy="6583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eiryo UI"/>
              </a:defRPr>
            </a:pPr>
            <a:r>
              <a:t>実行方法（まとめ）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52144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region pipeline と full pipeline の使い分け + 統合Excel作成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14400"/>
            <a:ext cx="5440680" cy="182880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A) 地域DSLのみ一括実行</a:t>
            </a:r>
          </a:p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run_regions_pipeline.ps1</a:t>
            </a:r>
          </a:p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・抽出/清掃/後処理をスキップ</a:t>
            </a:r>
          </a:p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・既存 output3/test3/test4 から DSL を再実行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914400"/>
            <a:ext cx="5349240" cy="1828800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B) 全工程を一括実行</a:t>
            </a:r>
          </a:p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run_pipeline.ps1</a:t>
            </a:r>
          </a:p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・抽出→cleaner→post_clean→86/89統合→DSL</a:t>
            </a:r>
          </a:p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・最初から最後まで通しで更新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17520"/>
            <a:ext cx="11109960" cy="1188720"/>
          </a:xfrm>
          <a:prstGeom prst="rect">
            <a:avLst/>
          </a:prstGeom>
          <a:solidFill>
            <a:srgbClr val="FFF9D6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任意の最終統合:</a:t>
            </a:r>
          </a:p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merge_region_summaries.py を実行すると、82-90 と 810-819 それぞれで</a:t>
            </a:r>
          </a:p>
          <a:p>
            <a:pPr algn="l">
              <a:defRPr sz="1200" b="0">
                <a:solidFill>
                  <a:srgbClr val="232323"/>
                </a:solidFill>
                <a:latin typeface="Meiryo UI"/>
              </a:defRPr>
            </a:pPr>
            <a:r>
              <a:t>main_summary と levels_summary の統合Excel（複数シート）を作成</a:t>
            </a:r>
          </a:p>
        </p:txBody>
      </p:sp>
      <p:sp>
        <p:nvSpPr>
          <p:cNvPr id="8" name="Down Arrow 7"/>
          <p:cNvSpPr/>
          <p:nvPr/>
        </p:nvSpPr>
        <p:spPr>
          <a:xfrm>
            <a:off x="3108960" y="2743200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own Arrow 8"/>
          <p:cNvSpPr/>
          <p:nvPr/>
        </p:nvSpPr>
        <p:spPr>
          <a:xfrm>
            <a:off x="8823960" y="2743200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4526280"/>
            <a:ext cx="10469880" cy="1005840"/>
          </a:xfrm>
          <a:prstGeom prst="roundRect">
            <a:avLst/>
          </a:prstGeom>
          <a:solidFill>
            <a:srgbClr val="E4F1FC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最終保存先（例）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results/csv/&lt;地域&gt;/...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results/csv/merged_main_summary_82-90.xlsx / merged_levels_summary_82-90.xlsx</a:t>
            </a:r>
          </a:p>
          <a:p>
            <a:pPr algn="l">
              <a:defRPr sz="1100" b="0">
                <a:solidFill>
                  <a:srgbClr val="232323"/>
                </a:solidFill>
                <a:latin typeface="Meiryo UI"/>
              </a:defRPr>
            </a:pPr>
            <a:r>
              <a:t>results/csv/merged_main_summary_810-819.xlsx / merged_levels_summary_810-819.xlsx</a:t>
            </a:r>
          </a:p>
        </p:txBody>
      </p:sp>
      <p:sp>
        <p:nvSpPr>
          <p:cNvPr id="11" name="Terminator 10"/>
          <p:cNvSpPr/>
          <p:nvPr/>
        </p:nvSpPr>
        <p:spPr>
          <a:xfrm>
            <a:off x="3954780" y="5783580"/>
            <a:ext cx="4389120" cy="713232"/>
          </a:xfrm>
          <a:prstGeom prst="flowChartTerminator">
            <a:avLst/>
          </a:prstGeom>
          <a:solidFill>
            <a:srgbClr val="F2F2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400" b="1">
                <a:solidFill>
                  <a:srgbClr val="232323"/>
                </a:solidFill>
                <a:latin typeface="Meiryo UI"/>
              </a:defRPr>
            </a:pPr>
            <a:r>
              <a:t>運用フロー完了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71032" y="5559552"/>
            <a:ext cx="320040" cy="228600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2F2729-0278-7A62-A388-F4AB924E9FFE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6149340" y="4206240"/>
            <a:ext cx="0" cy="32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794</Words>
  <Application>Microsoft Office PowerPoint</Application>
  <PresentationFormat>Widescreen</PresentationFormat>
  <Paragraphs>109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Meiryo 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ヤダフ アーユシュ</cp:lastModifiedBy>
  <cp:revision>6</cp:revision>
  <dcterms:created xsi:type="dcterms:W3CDTF">2013-01-27T09:14:16Z</dcterms:created>
  <dcterms:modified xsi:type="dcterms:W3CDTF">2026-03-10T09:44:32Z</dcterms:modified>
  <cp:category/>
</cp:coreProperties>
</file>