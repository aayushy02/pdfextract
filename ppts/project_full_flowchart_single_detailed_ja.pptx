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17465040" cy="475488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defRPr sz="2400" b="1">
                <a:solidFill>
                  <a:srgbClr val="1C1C1C"/>
                </a:solidFill>
                <a:latin typeface="Meiryo UI"/>
              </a:defRPr>
            </a:pPr>
            <a:r>
              <a:t>PDF抽出プロジェクト 全体フロー（実装ベース・詳細版）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7465040" cy="27432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defRPr sz="1100" b="0">
                <a:solidFill>
                  <a:srgbClr val="1C1C1C"/>
                </a:solidFill>
                <a:latin typeface="Meiryo UI"/>
              </a:defRPr>
            </a:pPr>
            <a:r>
              <a:t>対象: run_pipeline.ps1 / run_regions_pipeline.ps1 / dsl_engine.py / merge_region_summaries.py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143000" y="868680"/>
            <a:ext cx="0" cy="9144000"/>
          </a:xfrm>
          <a:prstGeom prst="line">
            <a:avLst/>
          </a:prstGeom>
          <a:ln w="22860">
            <a:solidFill>
              <a:srgbClr val="366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10896" y="896112"/>
            <a:ext cx="1554480" cy="411480"/>
          </a:xfrm>
          <a:prstGeom prst="rect">
            <a:avLst/>
          </a:prstGeom>
          <a:solidFill>
            <a:srgbClr val="E8E8C8"/>
          </a:solidFill>
          <a:ln w="1778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defRPr sz="1200" b="1">
                <a:solidFill>
                  <a:srgbClr val="1C1C1C"/>
                </a:solidFill>
                <a:latin typeface="Meiryo UI"/>
              </a:defRPr>
            </a:pPr>
            <a:r>
              <a:t>プロジェクト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" y="1783080"/>
            <a:ext cx="1554480" cy="411480"/>
          </a:xfrm>
          <a:prstGeom prst="rect">
            <a:avLst/>
          </a:prstGeom>
          <a:solidFill>
            <a:srgbClr val="E8E8C8"/>
          </a:solidFill>
          <a:ln w="1778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defRPr sz="1200" b="1">
                <a:solidFill>
                  <a:srgbClr val="1C1C1C"/>
                </a:solidFill>
                <a:latin typeface="Meiryo UI"/>
              </a:defRPr>
            </a:pPr>
            <a:r>
              <a:t>INPUT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" y="2852928"/>
            <a:ext cx="1554480" cy="411480"/>
          </a:xfrm>
          <a:prstGeom prst="rect">
            <a:avLst/>
          </a:prstGeom>
          <a:solidFill>
            <a:srgbClr val="E8E8C8"/>
          </a:solidFill>
          <a:ln w="1778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defRPr sz="1200" b="1">
                <a:solidFill>
                  <a:srgbClr val="1C1C1C"/>
                </a:solidFill>
                <a:latin typeface="Meiryo UI"/>
              </a:defRPr>
            </a:pPr>
            <a:r>
              <a:t>EXTRACT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" y="3986784"/>
            <a:ext cx="1554480" cy="411480"/>
          </a:xfrm>
          <a:prstGeom prst="rect">
            <a:avLst/>
          </a:prstGeom>
          <a:solidFill>
            <a:srgbClr val="E8E8C8"/>
          </a:solidFill>
          <a:ln w="1778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defRPr sz="1200" b="1">
                <a:solidFill>
                  <a:srgbClr val="1C1C1C"/>
                </a:solidFill>
                <a:latin typeface="Meiryo UI"/>
              </a:defRPr>
            </a:pPr>
            <a:r>
              <a:t>CLEAN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" y="5193792"/>
            <a:ext cx="1554480" cy="411480"/>
          </a:xfrm>
          <a:prstGeom prst="rect">
            <a:avLst/>
          </a:prstGeom>
          <a:solidFill>
            <a:srgbClr val="E8E8C8"/>
          </a:solidFill>
          <a:ln w="1778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defRPr sz="1200" b="1">
                <a:solidFill>
                  <a:srgbClr val="1C1C1C"/>
                </a:solidFill>
                <a:latin typeface="Meiryo UI"/>
              </a:defRPr>
            </a:pPr>
            <a:r>
              <a:t>DSL前処理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" y="7754112"/>
            <a:ext cx="1554480" cy="411480"/>
          </a:xfrm>
          <a:prstGeom prst="rect">
            <a:avLst/>
          </a:prstGeom>
          <a:solidFill>
            <a:srgbClr val="E8E8C8"/>
          </a:solidFill>
          <a:ln w="1778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defRPr sz="1200" b="1">
                <a:solidFill>
                  <a:srgbClr val="1C1C1C"/>
                </a:solidFill>
                <a:latin typeface="Meiryo UI"/>
              </a:defRPr>
            </a:pPr>
            <a:r>
              <a:t>OUTPUT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0896" y="9180576"/>
            <a:ext cx="1554480" cy="411480"/>
          </a:xfrm>
          <a:prstGeom prst="rect">
            <a:avLst/>
          </a:prstGeom>
          <a:solidFill>
            <a:srgbClr val="E8E8C8"/>
          </a:solidFill>
          <a:ln w="1778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defRPr sz="1200" b="1">
                <a:solidFill>
                  <a:srgbClr val="1C1C1C"/>
                </a:solidFill>
                <a:latin typeface="Meiryo UI"/>
              </a:defRPr>
            </a:pPr>
            <a:r>
              <a:t>統合（任意）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65960" y="868680"/>
            <a:ext cx="7818120" cy="713232"/>
          </a:xfrm>
          <a:prstGeom prst="roundRect">
            <a:avLst/>
          </a:prstGeom>
          <a:solidFill>
            <a:srgbClr val="F8F8F2"/>
          </a:solidFill>
          <a:ln w="1778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>
              <a:defRPr sz="1100" b="0">
                <a:solidFill>
                  <a:srgbClr val="1C1C1C"/>
                </a:solidFill>
                <a:latin typeface="Meiryo UI"/>
              </a:defRPr>
            </a:pPr>
            <a:r>
              <a:t>開始スクリプト</a:t>
            </a:r>
          </a:p>
          <a:p>
            <a:pPr algn="l">
              <a:defRPr sz="1100" b="0">
                <a:solidFill>
                  <a:srgbClr val="1C1C1C"/>
                </a:solidFill>
                <a:latin typeface="Meiryo UI"/>
              </a:defRPr>
            </a:pPr>
            <a:r>
              <a:t>run_pipeline.ps1: 抽出→整形→DSL→地域出力まで全工程を実行</a:t>
            </a:r>
          </a:p>
          <a:p>
            <a:pPr algn="l">
              <a:defRPr sz="1100" b="0">
                <a:solidFill>
                  <a:srgbClr val="1C1C1C"/>
                </a:solidFill>
                <a:latin typeface="Meiryo UI"/>
              </a:defRPr>
            </a:pPr>
            <a:r>
              <a:t>run_regions_pipeline.ps1: 既存テキストを使ってDSL工程のみ再実行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65960" y="1755648"/>
            <a:ext cx="7818120" cy="896112"/>
          </a:xfrm>
          <a:prstGeom prst="roundRect">
            <a:avLst/>
          </a:prstGeom>
          <a:solidFill>
            <a:srgbClr val="F8F8F2"/>
          </a:solidFill>
          <a:ln w="1778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>
              <a:defRPr sz="1100" b="0">
                <a:solidFill>
                  <a:srgbClr val="1C1C1C"/>
                </a:solidFill>
                <a:latin typeface="Meiryo UI"/>
              </a:defRPr>
            </a:pPr>
            <a:r>
              <a:t>入力探索</a:t>
            </a:r>
          </a:p>
          <a:p>
            <a:pPr algn="l">
              <a:defRPr sz="1100" b="0">
                <a:solidFill>
                  <a:srgbClr val="1C1C1C"/>
                </a:solidFill>
                <a:latin typeface="Meiryo UI"/>
              </a:defRPr>
            </a:pPr>
            <a:r>
              <a:t>input/ 配下の地域フォルダ（[82]〜[90], [810]〜[819]）を再帰的に探索</a:t>
            </a:r>
          </a:p>
          <a:p>
            <a:pPr algn="l">
              <a:defRPr sz="1100" b="0">
                <a:solidFill>
                  <a:srgbClr val="1C1C1C"/>
                </a:solidFill>
                <a:latin typeface="Meiryo UI"/>
              </a:defRPr>
            </a:pPr>
            <a:r>
              <a:t>案件単位でPDFを読み込み、後続処理の対象を確定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65960" y="2834640"/>
            <a:ext cx="7818120" cy="896112"/>
          </a:xfrm>
          <a:prstGeom prst="roundRect">
            <a:avLst/>
          </a:prstGeom>
          <a:solidFill>
            <a:srgbClr val="F8F8F2"/>
          </a:solidFill>
          <a:ln w="1778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>
              <a:defRPr sz="1100" b="0">
                <a:solidFill>
                  <a:srgbClr val="1C1C1C"/>
                </a:solidFill>
                <a:latin typeface="Meiryo UI"/>
              </a:defRPr>
            </a:pPr>
            <a:r>
              <a:t>一次抽出</a:t>
            </a:r>
          </a:p>
          <a:p>
            <a:pPr algn="l">
              <a:defRPr sz="1100" b="0">
                <a:solidFill>
                  <a:srgbClr val="1C1C1C"/>
                </a:solidFill>
                <a:latin typeface="Meiryo UI"/>
              </a:defRPr>
            </a:pPr>
            <a:r>
              <a:t>text_extractor.py        -&gt; results/output1</a:t>
            </a:r>
          </a:p>
          <a:p>
            <a:pPr algn="l">
              <a:defRPr sz="1100" b="0">
                <a:solidFill>
                  <a:srgbClr val="1C1C1C"/>
                </a:solidFill>
                <a:latin typeface="Meiryo UI"/>
              </a:defRPr>
            </a:pPr>
            <a:r>
              <a:t>hybrid_extraction.py     -&gt; results/test1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65960" y="3950208"/>
            <a:ext cx="7818120" cy="1005840"/>
          </a:xfrm>
          <a:prstGeom prst="roundRect">
            <a:avLst/>
          </a:prstGeom>
          <a:solidFill>
            <a:srgbClr val="F8F8F2"/>
          </a:solidFill>
          <a:ln w="1778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>
              <a:defRPr sz="1100" b="0">
                <a:solidFill>
                  <a:srgbClr val="1C1C1C"/>
                </a:solidFill>
                <a:latin typeface="Meiryo UI"/>
              </a:defRPr>
            </a:pPr>
            <a:r>
              <a:t>クリーニング整形</a:t>
            </a:r>
          </a:p>
          <a:p>
            <a:pPr algn="l">
              <a:defRPr sz="1100" b="0">
                <a:solidFill>
                  <a:srgbClr val="1C1C1C"/>
                </a:solidFill>
                <a:latin typeface="Meiryo UI"/>
              </a:defRPr>
            </a:pPr>
            <a:r>
              <a:t>text_cleaner.py:        output1→output2, test1→test2</a:t>
            </a:r>
          </a:p>
          <a:p>
            <a:pPr algn="l">
              <a:defRPr sz="1100" b="0">
                <a:solidFill>
                  <a:srgbClr val="1C1C1C"/>
                </a:solidFill>
                <a:latin typeface="Meiryo UI"/>
              </a:defRPr>
            </a:pPr>
            <a:r>
              <a:t>post_clean_output3.py:  output2→output3, test2→test3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65960" y="5138928"/>
            <a:ext cx="7818120" cy="1005840"/>
          </a:xfrm>
          <a:prstGeom prst="roundRect">
            <a:avLst/>
          </a:prstGeom>
          <a:solidFill>
            <a:srgbClr val="F8F8F2"/>
          </a:solidFill>
          <a:ln w="1778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>
              <a:defRPr sz="1100" b="0">
                <a:solidFill>
                  <a:srgbClr val="1C1C1C"/>
                </a:solidFill>
                <a:latin typeface="Meiryo UI"/>
              </a:defRPr>
            </a:pPr>
            <a:r>
              <a:t>地域別前処理（86/89のみ）</a:t>
            </a:r>
          </a:p>
          <a:p>
            <a:pPr algn="l">
              <a:defRPr sz="1100" b="0">
                <a:solidFill>
                  <a:srgbClr val="1C1C1C"/>
                </a:solidFill>
                <a:latin typeface="Meiryo UI"/>
              </a:defRPr>
            </a:pPr>
            <a:r>
              <a:t>merge_86_texts.py: test3/[86]* -&gt; test4/[86]*</a:t>
            </a:r>
          </a:p>
          <a:p>
            <a:pPr algn="l">
              <a:defRPr sz="1100" b="0">
                <a:solidFill>
                  <a:srgbClr val="1C1C1C"/>
                </a:solidFill>
                <a:latin typeface="Meiryo UI"/>
              </a:defRPr>
            </a:pPr>
            <a:r>
              <a:t>merge_89_texts.py: test3/[89]* -&gt; test4/[89]*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65960" y="6327648"/>
            <a:ext cx="7818120" cy="1243584"/>
          </a:xfrm>
          <a:prstGeom prst="roundRect">
            <a:avLst/>
          </a:prstGeom>
          <a:solidFill>
            <a:srgbClr val="F8F8F2"/>
          </a:solidFill>
          <a:ln w="1778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>
              <a:defRPr sz="1100" b="0">
                <a:solidFill>
                  <a:srgbClr val="1C1C1C"/>
                </a:solidFill>
                <a:latin typeface="Meiryo UI"/>
              </a:defRPr>
            </a:pPr>
            <a:r>
              <a:t>DSL抽出（dsl_engine.py）</a:t>
            </a:r>
          </a:p>
          <a:p>
            <a:pPr algn="l">
              <a:defRPr sz="1100" b="0">
                <a:solidFill>
                  <a:srgbClr val="1C1C1C"/>
                </a:solidFill>
                <a:latin typeface="Meiryo UI"/>
              </a:defRPr>
            </a:pPr>
            <a:r>
              <a:t>output3入力: 82,83,84,87,88,90</a:t>
            </a:r>
          </a:p>
          <a:p>
            <a:pPr algn="l">
              <a:defRPr sz="1100" b="0">
                <a:solidFill>
                  <a:srgbClr val="1C1C1C"/>
                </a:solidFill>
                <a:latin typeface="Meiryo UI"/>
              </a:defRPr>
            </a:pPr>
            <a:r>
              <a:t>test3入力:   85,810,811,812,813,814,815,816,817,818,819</a:t>
            </a:r>
          </a:p>
          <a:p>
            <a:pPr algn="l">
              <a:defRPr sz="1100" b="0">
                <a:solidFill>
                  <a:srgbClr val="1C1C1C"/>
                </a:solidFill>
                <a:latin typeface="Meiryo UI"/>
              </a:defRPr>
            </a:pPr>
            <a:r>
              <a:t>test4入力:   86,89</a:t>
            </a:r>
          </a:p>
          <a:p>
            <a:pPr algn="l">
              <a:defRPr sz="1100" b="0">
                <a:solidFill>
                  <a:srgbClr val="1C1C1C"/>
                </a:solidFill>
                <a:latin typeface="Meiryo UI"/>
              </a:defRPr>
            </a:pPr>
            <a:r>
              <a:t>出力先: results/csv/&lt;地域フォルダ&gt;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65960" y="7699248"/>
            <a:ext cx="7818120" cy="1335024"/>
          </a:xfrm>
          <a:prstGeom prst="roundRect">
            <a:avLst/>
          </a:prstGeom>
          <a:solidFill>
            <a:srgbClr val="F8F8F2"/>
          </a:solidFill>
          <a:ln w="1778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>
              <a:defRPr sz="1100" b="0">
                <a:solidFill>
                  <a:srgbClr val="1C1C1C"/>
                </a:solidFill>
                <a:latin typeface="Meiryo UI"/>
              </a:defRPr>
            </a:pPr>
            <a:r>
              <a:t>地域別アウトプット</a:t>
            </a:r>
          </a:p>
          <a:p>
            <a:pPr algn="l">
              <a:defRPr sz="1100" b="0">
                <a:solidFill>
                  <a:srgbClr val="1C1C1C"/>
                </a:solidFill>
                <a:latin typeface="Meiryo UI"/>
              </a:defRPr>
            </a:pPr>
            <a:r>
              <a:t>案件別: &lt;案件&gt;.csv / &lt;案件&gt;.xlsx / &lt;案件&gt;_levels.csv / &lt;案件&gt;_levels.xlsx</a:t>
            </a:r>
          </a:p>
          <a:p>
            <a:pPr algn="l">
              <a:defRPr sz="1100" b="0">
                <a:solidFill>
                  <a:srgbClr val="1C1C1C"/>
                </a:solidFill>
                <a:latin typeface="Meiryo UI"/>
              </a:defRPr>
            </a:pPr>
            <a:r>
              <a:t>地域集計: &lt;地域&gt;_all_texts_summary.csv/.xlsx</a:t>
            </a:r>
          </a:p>
          <a:p>
            <a:pPr algn="l">
              <a:defRPr sz="1100" b="0">
                <a:solidFill>
                  <a:srgbClr val="1C1C1C"/>
                </a:solidFill>
                <a:latin typeface="Meiryo UI"/>
              </a:defRPr>
            </a:pPr>
            <a:r>
              <a:t>          &lt;地域&gt;_levels_summary.csv/.xlsx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65960" y="9144000"/>
            <a:ext cx="7818120" cy="768096"/>
          </a:xfrm>
          <a:prstGeom prst="roundRect">
            <a:avLst/>
          </a:prstGeom>
          <a:solidFill>
            <a:srgbClr val="F8F8F2"/>
          </a:solidFill>
          <a:ln w="1778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>
              <a:defRPr sz="1000" b="0">
                <a:solidFill>
                  <a:srgbClr val="1C1C1C"/>
                </a:solidFill>
                <a:latin typeface="Meiryo UI"/>
              </a:defRPr>
            </a:pPr>
            <a:r>
              <a:t>任意統合（merge_region_summaries.py）</a:t>
            </a:r>
          </a:p>
          <a:p>
            <a:pPr algn="l">
              <a:defRPr sz="1000" b="0">
                <a:solidFill>
                  <a:srgbClr val="1C1C1C"/>
                </a:solidFill>
                <a:latin typeface="Meiryo UI"/>
              </a:defRPr>
            </a:pPr>
            <a:r>
              <a:t>82-90 / 810-819 / 全体 をそれぞれ merged_main_summary_* と merged_levels_summary_* に統合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875020" y="1581912"/>
            <a:ext cx="0" cy="173736"/>
          </a:xfrm>
          <a:prstGeom prst="line">
            <a:avLst/>
          </a:prstGeom>
          <a:ln w="17780">
            <a:solidFill>
              <a:srgbClr val="366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875020" y="2651760"/>
            <a:ext cx="0" cy="182880"/>
          </a:xfrm>
          <a:prstGeom prst="line">
            <a:avLst/>
          </a:prstGeom>
          <a:ln w="17780">
            <a:solidFill>
              <a:srgbClr val="366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875020" y="3730752"/>
            <a:ext cx="0" cy="219456"/>
          </a:xfrm>
          <a:prstGeom prst="line">
            <a:avLst/>
          </a:prstGeom>
          <a:ln w="17780">
            <a:solidFill>
              <a:srgbClr val="366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875020" y="4956048"/>
            <a:ext cx="0" cy="182880"/>
          </a:xfrm>
          <a:prstGeom prst="line">
            <a:avLst/>
          </a:prstGeom>
          <a:ln w="17780">
            <a:solidFill>
              <a:srgbClr val="366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875020" y="6144768"/>
            <a:ext cx="0" cy="182880"/>
          </a:xfrm>
          <a:prstGeom prst="line">
            <a:avLst/>
          </a:prstGeom>
          <a:ln w="17780">
            <a:solidFill>
              <a:srgbClr val="366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875020" y="7571231"/>
            <a:ext cx="0" cy="128017"/>
          </a:xfrm>
          <a:prstGeom prst="line">
            <a:avLst/>
          </a:prstGeom>
          <a:ln w="17780">
            <a:solidFill>
              <a:srgbClr val="366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875020" y="9034272"/>
            <a:ext cx="0" cy="109728"/>
          </a:xfrm>
          <a:prstGeom prst="line">
            <a:avLst/>
          </a:prstGeom>
          <a:ln w="17780">
            <a:solidFill>
              <a:srgbClr val="366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143000" y="1225295"/>
            <a:ext cx="822960" cy="0"/>
          </a:xfrm>
          <a:prstGeom prst="line">
            <a:avLst/>
          </a:prstGeom>
          <a:ln w="13970">
            <a:solidFill>
              <a:srgbClr val="366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143000" y="2203704"/>
            <a:ext cx="822960" cy="0"/>
          </a:xfrm>
          <a:prstGeom prst="line">
            <a:avLst/>
          </a:prstGeom>
          <a:ln w="13970">
            <a:solidFill>
              <a:srgbClr val="366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43000" y="3282696"/>
            <a:ext cx="822960" cy="0"/>
          </a:xfrm>
          <a:prstGeom prst="line">
            <a:avLst/>
          </a:prstGeom>
          <a:ln w="13970">
            <a:solidFill>
              <a:srgbClr val="366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43000" y="4453128"/>
            <a:ext cx="822960" cy="0"/>
          </a:xfrm>
          <a:prstGeom prst="line">
            <a:avLst/>
          </a:prstGeom>
          <a:ln w="13970">
            <a:solidFill>
              <a:srgbClr val="366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43000" y="5641848"/>
            <a:ext cx="822960" cy="0"/>
          </a:xfrm>
          <a:prstGeom prst="line">
            <a:avLst/>
          </a:prstGeom>
          <a:ln w="13970">
            <a:solidFill>
              <a:srgbClr val="366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143000" y="6949440"/>
            <a:ext cx="822960" cy="0"/>
          </a:xfrm>
          <a:prstGeom prst="line">
            <a:avLst/>
          </a:prstGeom>
          <a:ln w="13970">
            <a:solidFill>
              <a:srgbClr val="366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143000" y="8366760"/>
            <a:ext cx="822960" cy="0"/>
          </a:xfrm>
          <a:prstGeom prst="line">
            <a:avLst/>
          </a:prstGeom>
          <a:ln w="13970">
            <a:solidFill>
              <a:srgbClr val="366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143000" y="9528048"/>
            <a:ext cx="822960" cy="0"/>
          </a:xfrm>
          <a:prstGeom prst="line">
            <a:avLst/>
          </a:prstGeom>
          <a:ln w="13970">
            <a:solidFill>
              <a:srgbClr val="366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10195560" y="868680"/>
            <a:ext cx="7635240" cy="2029968"/>
          </a:xfrm>
          <a:prstGeom prst="rect">
            <a:avLst/>
          </a:prstGeom>
          <a:solidFill>
            <a:srgbClr val="FFFFFF"/>
          </a:solidFill>
          <a:ln w="17780">
            <a:solidFill>
              <a:srgbClr val="36608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>
              <a:defRPr sz="1000" b="0">
                <a:solidFill>
                  <a:srgbClr val="1C1C1C"/>
                </a:solidFill>
                <a:latin typeface="Meiryo UI"/>
              </a:defRPr>
            </a:pPr>
            <a:r>
              <a:t>主要スクリプト一覧</a:t>
            </a:r>
          </a:p>
          <a:p>
            <a:pPr algn="l">
              <a:defRPr sz="1000" b="0">
                <a:solidFill>
                  <a:srgbClr val="1C1C1C"/>
                </a:solidFill>
                <a:latin typeface="Meiryo UI"/>
              </a:defRPr>
            </a:pPr>
            <a:r>
              <a:t>run_pipeline.ps1 / run_regions_pipeline.ps1 / dsl_engine.py</a:t>
            </a:r>
          </a:p>
          <a:p>
            <a:pPr algn="l">
              <a:defRPr sz="1000" b="0">
                <a:solidFill>
                  <a:srgbClr val="1C1C1C"/>
                </a:solidFill>
                <a:latin typeface="Meiryo UI"/>
              </a:defRPr>
            </a:pPr>
            <a:r>
              <a:t>text_extractor.py / hybrid_extraction.py / text_cleaner.py / post_clean_output3.py</a:t>
            </a:r>
          </a:p>
          <a:p>
            <a:pPr algn="l">
              <a:defRPr sz="1000" b="0">
                <a:solidFill>
                  <a:srgbClr val="1C1C1C"/>
                </a:solidFill>
                <a:latin typeface="Meiryo UI"/>
              </a:defRPr>
            </a:pPr>
            <a:r>
              <a:t>merge_86_texts.py / merge_89_texts.py / merge_region_summaries.py</a:t>
            </a:r>
          </a:p>
          <a:p>
            <a:pPr algn="l">
              <a:defRPr sz="1000" b="0">
                <a:solidFill>
                  <a:srgbClr val="1C1C1C"/>
                </a:solidFill>
                <a:latin typeface="Meiryo UI"/>
              </a:defRPr>
            </a:pPr>
            <a:r>
              <a:t>DSL: 82,83,84,85,86,87,88,89,90,810,811,812,813,814,815,816,817,818,819_script.dsl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195560" y="3054096"/>
            <a:ext cx="7635240" cy="2487168"/>
          </a:xfrm>
          <a:prstGeom prst="rect">
            <a:avLst/>
          </a:prstGeom>
          <a:solidFill>
            <a:srgbClr val="FFFFFF"/>
          </a:solidFill>
          <a:ln w="1778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>
              <a:defRPr sz="1100" b="0">
                <a:solidFill>
                  <a:srgbClr val="1C1C1C"/>
                </a:solidFill>
                <a:latin typeface="Meiryo UI"/>
              </a:defRPr>
            </a:pPr>
            <a:r>
              <a:t>DSL入力ルート（地域コードごと）</a:t>
            </a:r>
          </a:p>
          <a:p>
            <a:pPr algn="l">
              <a:defRPr sz="1100" b="0">
                <a:solidFill>
                  <a:srgbClr val="1C1C1C"/>
                </a:solidFill>
                <a:latin typeface="Meiryo UI"/>
              </a:defRPr>
            </a:pPr>
            <a:r>
              <a:t>82,83,84,87,88,90  : results/output3/&lt;地域&gt;</a:t>
            </a:r>
          </a:p>
          <a:p>
            <a:pPr algn="l">
              <a:defRPr sz="1100" b="0">
                <a:solidFill>
                  <a:srgbClr val="1C1C1C"/>
                </a:solidFill>
                <a:latin typeface="Meiryo UI"/>
              </a:defRPr>
            </a:pPr>
            <a:r>
              <a:t>85,810-819         : results/test3/&lt;地域&gt;</a:t>
            </a:r>
          </a:p>
          <a:p>
            <a:pPr algn="l">
              <a:defRPr sz="1100" b="0">
                <a:solidFill>
                  <a:srgbClr val="1C1C1C"/>
                </a:solidFill>
                <a:latin typeface="Meiryo UI"/>
              </a:defRPr>
            </a:pPr>
            <a:r>
              <a:t>86,89              : results/test4/&lt;地域&gt;（merge後データ）</a:t>
            </a:r>
          </a:p>
          <a:p>
            <a:pPr algn="l">
              <a:defRPr sz="1100" b="0">
                <a:solidFill>
                  <a:srgbClr val="1C1C1C"/>
                </a:solidFill>
                <a:latin typeface="Meiryo UI"/>
              </a:defRPr>
            </a:pPr>
            <a:r>
              <a:t>各地域で対応する xx_script.dsl を実行し、同名サブフォルダにCSV/XLSXを出力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195560" y="5715000"/>
            <a:ext cx="7635240" cy="2798064"/>
          </a:xfrm>
          <a:prstGeom prst="rect">
            <a:avLst/>
          </a:prstGeom>
          <a:solidFill>
            <a:srgbClr val="FFFFFF"/>
          </a:solidFill>
          <a:ln w="1778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>
              <a:defRPr sz="1000" b="0">
                <a:solidFill>
                  <a:srgbClr val="1C1C1C"/>
                </a:solidFill>
                <a:latin typeface="Meiryo UI"/>
              </a:defRPr>
            </a:pPr>
            <a:r>
              <a:t>出力フォルダ構造（例）</a:t>
            </a:r>
          </a:p>
          <a:p>
            <a:pPr algn="l">
              <a:defRPr sz="1000" b="0">
                <a:solidFill>
                  <a:srgbClr val="1C1C1C"/>
                </a:solidFill>
                <a:latin typeface="Meiryo UI"/>
              </a:defRPr>
            </a:pPr>
            <a:r>
              <a:t>results/csv/[82]東北A/</a:t>
            </a:r>
          </a:p>
          <a:p>
            <a:pPr algn="l">
              <a:defRPr sz="1000" b="0">
                <a:solidFill>
                  <a:srgbClr val="1C1C1C"/>
                </a:solidFill>
                <a:latin typeface="Meiryo UI"/>
              </a:defRPr>
            </a:pPr>
            <a:r>
              <a:t>  ├─ 案件A.csv / 案件A.xlsx</a:t>
            </a:r>
          </a:p>
          <a:p>
            <a:pPr algn="l">
              <a:defRPr sz="1000" b="0">
                <a:solidFill>
                  <a:srgbClr val="1C1C1C"/>
                </a:solidFill>
                <a:latin typeface="Meiryo UI"/>
              </a:defRPr>
            </a:pPr>
            <a:r>
              <a:t>  ├─ 案件A_levels.csv / 案件A_levels.xlsx</a:t>
            </a:r>
          </a:p>
          <a:p>
            <a:pPr algn="l">
              <a:defRPr sz="1000" b="0">
                <a:solidFill>
                  <a:srgbClr val="1C1C1C"/>
                </a:solidFill>
                <a:latin typeface="Meiryo UI"/>
              </a:defRPr>
            </a:pPr>
            <a:r>
              <a:t>  ├─ [82]東北A_all_texts_summary.csv / .xlsx</a:t>
            </a:r>
          </a:p>
          <a:p>
            <a:pPr algn="l">
              <a:defRPr sz="1000" b="0">
                <a:solidFill>
                  <a:srgbClr val="1C1C1C"/>
                </a:solidFill>
                <a:latin typeface="Meiryo UI"/>
              </a:defRPr>
            </a:pPr>
            <a:r>
              <a:t>  └─ [82]東北A_levels_summary.csv / .xlsx</a:t>
            </a:r>
          </a:p>
          <a:p>
            <a:pPr algn="l">
              <a:defRPr sz="1000" b="0">
                <a:solidFill>
                  <a:srgbClr val="1C1C1C"/>
                </a:solidFill>
                <a:latin typeface="Meiryo UI"/>
              </a:defRPr>
            </a:pPr>
            <a:r>
              <a:t>同じ構造を [83]..[90], [810]..[819] の各地域で生成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195560" y="8705088"/>
            <a:ext cx="7635240" cy="1207008"/>
          </a:xfrm>
          <a:prstGeom prst="roundRect">
            <a:avLst/>
          </a:prstGeom>
          <a:solidFill>
            <a:srgbClr val="FFFCCF"/>
          </a:solidFill>
          <a:ln w="17780">
            <a:solidFill>
              <a:srgbClr val="D6A1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>
              <a:defRPr sz="1300" b="1">
                <a:solidFill>
                  <a:srgbClr val="615012"/>
                </a:solidFill>
                <a:latin typeface="Meiryo UI"/>
              </a:defRPr>
            </a:pPr>
            <a:r>
              <a:t>抽出項目（DSLで定義）</a:t>
            </a:r>
          </a:p>
          <a:p>
            <a:pPr algn="l">
              <a:defRPr sz="1300" b="1">
                <a:solidFill>
                  <a:srgbClr val="615012"/>
                </a:solidFill>
                <a:latin typeface="Meiryo UI"/>
              </a:defRPr>
            </a:pPr>
            <a:r>
              <a:t>地方整備局名 / 事務所名 / 工事件名 / 技術提案テーマ など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784080" y="3282696"/>
            <a:ext cx="201168" cy="0"/>
          </a:xfrm>
          <a:prstGeom prst="line">
            <a:avLst/>
          </a:prstGeom>
          <a:ln w="15240">
            <a:solidFill>
              <a:srgbClr val="366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9985248" y="1883664"/>
            <a:ext cx="0" cy="1399032"/>
          </a:xfrm>
          <a:prstGeom prst="line">
            <a:avLst/>
          </a:prstGeom>
          <a:ln w="15240">
            <a:solidFill>
              <a:srgbClr val="366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985248" y="1883664"/>
            <a:ext cx="210312" cy="0"/>
          </a:xfrm>
          <a:prstGeom prst="line">
            <a:avLst/>
          </a:prstGeom>
          <a:ln w="15240">
            <a:solidFill>
              <a:srgbClr val="366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9784080" y="6949440"/>
            <a:ext cx="201168" cy="0"/>
          </a:xfrm>
          <a:prstGeom prst="line">
            <a:avLst/>
          </a:prstGeom>
          <a:ln w="15240">
            <a:solidFill>
              <a:srgbClr val="366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9985248" y="4297680"/>
            <a:ext cx="0" cy="2651760"/>
          </a:xfrm>
          <a:prstGeom prst="line">
            <a:avLst/>
          </a:prstGeom>
          <a:ln w="15240">
            <a:solidFill>
              <a:srgbClr val="366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985248" y="4297680"/>
            <a:ext cx="210312" cy="0"/>
          </a:xfrm>
          <a:prstGeom prst="line">
            <a:avLst/>
          </a:prstGeom>
          <a:ln w="15240">
            <a:solidFill>
              <a:srgbClr val="366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784080" y="8366760"/>
            <a:ext cx="201168" cy="0"/>
          </a:xfrm>
          <a:prstGeom prst="line">
            <a:avLst/>
          </a:prstGeom>
          <a:ln w="15240">
            <a:solidFill>
              <a:srgbClr val="366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9985248" y="7114032"/>
            <a:ext cx="0" cy="1252728"/>
          </a:xfrm>
          <a:prstGeom prst="line">
            <a:avLst/>
          </a:prstGeom>
          <a:ln w="15240">
            <a:solidFill>
              <a:srgbClr val="366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985248" y="7114032"/>
            <a:ext cx="210312" cy="0"/>
          </a:xfrm>
          <a:prstGeom prst="line">
            <a:avLst/>
          </a:prstGeom>
          <a:ln w="15240">
            <a:solidFill>
              <a:srgbClr val="366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784080" y="9528048"/>
            <a:ext cx="201168" cy="0"/>
          </a:xfrm>
          <a:prstGeom prst="line">
            <a:avLst/>
          </a:prstGeom>
          <a:ln w="15240">
            <a:solidFill>
              <a:srgbClr val="366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9985248" y="9308592"/>
            <a:ext cx="0" cy="219456"/>
          </a:xfrm>
          <a:prstGeom prst="line">
            <a:avLst/>
          </a:prstGeom>
          <a:ln w="15240">
            <a:solidFill>
              <a:srgbClr val="366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985248" y="9308592"/>
            <a:ext cx="210312" cy="0"/>
          </a:xfrm>
          <a:prstGeom prst="line">
            <a:avLst/>
          </a:prstGeom>
          <a:ln w="15240">
            <a:solidFill>
              <a:srgbClr val="366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10195560" y="91440"/>
            <a:ext cx="7635240" cy="640080"/>
          </a:xfrm>
          <a:prstGeom prst="rect">
            <a:avLst/>
          </a:prstGeom>
          <a:solidFill>
            <a:srgbClr val="E8E8C8"/>
          </a:solidFill>
          <a:ln w="1778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>
              <a:defRPr sz="1100" b="1">
                <a:solidFill>
                  <a:srgbClr val="1C1C1C"/>
                </a:solidFill>
                <a:latin typeface="Meiryo UI"/>
              </a:defRPr>
            </a:pPr>
            <a:r>
              <a:t>補足: run_regions_pipeline.ps1 は EXTRACT/CLEAN を省略し、DSL工程のみを再実行</a:t>
            </a:r>
          </a:p>
        </p:txBody>
      </p:sp>
      <p:cxnSp>
        <p:nvCxnSpPr>
          <p:cNvPr id="53" name="Connector 52"/>
          <p:cNvCxnSpPr/>
          <p:nvPr/>
        </p:nvCxnSpPr>
        <p:spPr>
          <a:xfrm flipV="1">
            <a:off x="9784080" y="411479"/>
            <a:ext cx="411480" cy="813816"/>
          </a:xfrm>
          <a:prstGeom prst="line">
            <a:avLst/>
          </a:prstGeom>
          <a:ln w="12700">
            <a:solidFill>
              <a:srgbClr val="366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