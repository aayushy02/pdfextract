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  <p:sldId id="257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5" Type="http://schemas.openxmlformats.org/officeDocument/2006/relationships/slide" Target="slides/slide2.xml"/><Relationship Id="rId6" Type="http://schemas.openxmlformats.org/officeDocument/2006/relationships/slide" Target="slides/slide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t>プロジェクト処理フロー（統合1ページ版）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eiryo UI"/>
              </a:defRPr>
            </a:pPr>
            <a:r>
              <a:t>入力収集 → 抽出 → クリーニング/後処理 → 86/89統合分岐 → DSL抽出 → CSV/Excel → 統合Excel分岐 → 完了</a:t>
            </a:r>
          </a:p>
        </p:txBody>
      </p:sp>
      <p:sp>
        <p:nvSpPr>
          <p:cNvPr id="5" name="Terminator 4"/>
          <p:cNvSpPr/>
          <p:nvPr/>
        </p:nvSpPr>
        <p:spPr>
          <a:xfrm>
            <a:off x="2615184" y="822960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開始: 入力準備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input/ に地域フォルダを作成し資料を配置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5184" y="1188720"/>
            <a:ext cx="6967728" cy="420624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t>入力収集</a:t>
            </a:r>
          </a:p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t>input/ を再帰走査して PDF（+必要時 DOCX/XLS/XLSX）を収集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673352"/>
            <a:ext cx="6967728" cy="512064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テキスト抽出</a:t>
            </a:r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text_extractor.py / hybrid_extraction.py</a:t>
            </a:r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PyMuPDFで抽出し output1 / test1 へ保存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2258568"/>
            <a:ext cx="6967728" cy="548640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クリーニング + 後処理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text_cleaner.py → post_clean_output3.py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NFKC正規化・空白/記号調整・表保護・行結合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output1→output2→output3 / test1→test2→test3</a:t>
            </a:r>
          </a:p>
        </p:txBody>
      </p:sp>
      <p:sp>
        <p:nvSpPr>
          <p:cNvPr id="9" name="Diamond 8"/>
          <p:cNvSpPr/>
          <p:nvPr/>
        </p:nvSpPr>
        <p:spPr>
          <a:xfrm>
            <a:off x="4544568" y="2880360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判定1: 86/89で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複数ファイル統合が必要?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71432" y="2880360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はい: merge_86_texts.py /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merge_89_texts.py を実行し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results/test4 を生成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5184" y="3657600"/>
            <a:ext cx="6967728" cy="530352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DSL入力配置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output3: 82,83,84,87,88,90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test3: 85,810-819 / test4: 86,89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4261104"/>
            <a:ext cx="6967728" cy="566928"/>
          </a:xfrm>
          <a:prstGeom prst="roundRect">
            <a:avLst/>
          </a:prstGeom>
          <a:solidFill>
            <a:srgbClr val="E4F1FC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DSL抽出と成果物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 dsl_engine.py + &lt;region&gt;_script.dsl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results/csv/&lt;地域&gt; に CSV/XLSX・all_texts/levels を出力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levels は L0/L1/L2 + pageNo、koujime再評価（86/89除外）</a:t>
            </a:r>
          </a:p>
        </p:txBody>
      </p:sp>
      <p:sp>
        <p:nvSpPr>
          <p:cNvPr id="13" name="Diamond 12"/>
          <p:cNvSpPr/>
          <p:nvPr/>
        </p:nvSpPr>
        <p:spPr>
          <a:xfrm>
            <a:off x="4544568" y="4892040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判定2: 統合Excelを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作成する?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1432" y="4892040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はい: merge_region_summaries.py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merged_*_summary_*.xlsx を作成</a:t>
            </a:r>
          </a:p>
        </p:txBody>
      </p:sp>
      <p:sp>
        <p:nvSpPr>
          <p:cNvPr id="15" name="Terminator 14"/>
          <p:cNvSpPr/>
          <p:nvPr/>
        </p:nvSpPr>
        <p:spPr>
          <a:xfrm>
            <a:off x="2615184" y="5687568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完了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地域別CSV/Excel作成・次回入力待ち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932688"/>
            <a:ext cx="2148840" cy="1783080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補足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・成果物: &lt;案件&gt;.csv / .xlsx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・*_all_texts_summary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・*_levels_summary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・No分岐は次工程へ直進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4636008"/>
            <a:ext cx="2148840" cy="1627632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実行モード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A) run_regions_pipeline.ps1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既存 output3/test3/test4 から DSL再実行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B) run_pipeline.ps1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抽出→清掃→統合→DSL を一括実行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1133856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943600" y="162763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943600" y="2194560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943600" y="3584448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418795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43600" y="4809744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943600" y="560527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099048" y="2788920"/>
            <a:ext cx="0" cy="100584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55080" y="354787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いいえ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680960" y="3136392"/>
            <a:ext cx="512064" cy="201168"/>
          </a:xfrm>
          <a:prstGeom prst="right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90779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はい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96728" y="3575304"/>
            <a:ext cx="0" cy="356616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99048" y="3931920"/>
            <a:ext cx="4297680" cy="0"/>
          </a:xfrm>
          <a:prstGeom prst="bentConnector3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>
            <a:off x="7680960" y="5148072"/>
            <a:ext cx="512064" cy="201168"/>
          </a:xfrm>
          <a:prstGeom prst="right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91947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はい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55955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いいえ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396728" y="5586984"/>
            <a:ext cx="0" cy="246888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99048" y="5833872"/>
            <a:ext cx="4297680" cy="0"/>
          </a:xfrm>
          <a:prstGeom prst="bentConnector3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9728" y="109728"/>
            <a:ext cx="11960352" cy="6583680"/>
          </a:xfrm>
          <a:prstGeom prst="rect">
            <a:avLst/>
          </a:prstGeom>
          <a:solidFill>
            <a:srgbClr val="F7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137160"/>
            <a:ext cx="11521440" cy="384048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100" b="1">
                <a:solidFill>
                  <a:srgbClr val="232323"/>
                </a:solidFill>
                <a:latin typeface="Meiryo UI"/>
              </a:defRPr>
            </a:pPr>
            <a:r>
              <a:t>Project Processing Flow (Single Integrated View)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512064"/>
            <a:ext cx="11521440" cy="237744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050" b="0">
                <a:solidFill>
                  <a:srgbClr val="232323"/>
                </a:solidFill>
                <a:latin typeface="Meiryo UI"/>
              </a:defRPr>
            </a:pPr>
            <a:r>
              <a:t>Input collection -&gt; Extraction -&gt; Cleaning/Post-clean -&gt; 86/89 merge decision -&gt; DSL extraction -&gt; CSV/Excel -&gt; merged summary decision -&gt; Finish</a:t>
            </a:r>
          </a:p>
        </p:txBody>
      </p:sp>
      <p:sp>
        <p:nvSpPr>
          <p:cNvPr id="5" name="Terminator 4"/>
          <p:cNvSpPr/>
          <p:nvPr/>
        </p:nvSpPr>
        <p:spPr>
          <a:xfrm>
            <a:off x="2615184" y="822960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Start: Prepare inputs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Create region folders in input/ and place source 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615184" y="1188720"/>
            <a:ext cx="6967728" cy="420624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t>Collect input files</a:t>
            </a:r>
          </a:p>
          <a:p>
            <a:pPr algn="ctr">
              <a:defRPr sz="940" b="0">
                <a:solidFill>
                  <a:srgbClr val="232323"/>
                </a:solidFill>
                <a:latin typeface="Meiryo UI"/>
              </a:defRPr>
            </a:pPr>
            <a:r>
              <a:t>Recursively scan input/ for PDF (+ DOCX/XLS/XLSX when needed)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615184" y="1673352"/>
            <a:ext cx="6967728" cy="512064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Text extraction</a:t>
            </a:r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text_extractor.py / hybrid_extraction.py</a:t>
            </a:r>
          </a:p>
          <a:p>
            <a:pPr algn="ctr">
              <a:defRPr sz="930" b="0">
                <a:solidFill>
                  <a:srgbClr val="232323"/>
                </a:solidFill>
                <a:latin typeface="Meiryo UI"/>
              </a:defRPr>
            </a:pPr>
            <a:r>
              <a:t>Use PyMuPDF and save outputs to output1 / test1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15184" y="2258568"/>
            <a:ext cx="6967728" cy="548640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Cleaning + post-clean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text_cleaner.py -&gt; post_clean_output3.py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NFKC normalization, whitespace/symbol cleanup, table protection,</a:t>
            </a:r>
          </a:p>
          <a:p>
            <a:pPr algn="ctr">
              <a:defRPr sz="890" b="0">
                <a:solidFill>
                  <a:srgbClr val="232323"/>
                </a:solidFill>
                <a:latin typeface="Meiryo UI"/>
              </a:defRPr>
            </a:pPr>
            <a:r>
              <a:t>wrapped-line merge: output1-&gt;output2-&gt;output3 / test1-&gt;test2-&gt;test3</a:t>
            </a:r>
          </a:p>
        </p:txBody>
      </p:sp>
      <p:sp>
        <p:nvSpPr>
          <p:cNvPr id="9" name="Diamond 8"/>
          <p:cNvSpPr/>
          <p:nvPr/>
        </p:nvSpPr>
        <p:spPr>
          <a:xfrm>
            <a:off x="4544568" y="2880360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Decision 1: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Need multi-file merge for regions 86/89?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71432" y="2880360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Yes: run merge_86_texts.py /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merge_89_texts.py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Generate results/test4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615184" y="3657600"/>
            <a:ext cx="6967728" cy="530352"/>
          </a:xfrm>
          <a:prstGeom prst="roundRect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Arrange DSL inputs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output3: 82,83,84,87,88,90</a:t>
            </a:r>
          </a:p>
          <a:p>
            <a:pPr algn="ctr">
              <a:defRPr sz="919" b="0">
                <a:solidFill>
                  <a:srgbClr val="232323"/>
                </a:solidFill>
                <a:latin typeface="Meiryo UI"/>
              </a:defRPr>
            </a:pPr>
            <a:r>
              <a:t>test3: 85,810-819 / test4: 86,89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15184" y="4261104"/>
            <a:ext cx="6967728" cy="566928"/>
          </a:xfrm>
          <a:prstGeom prst="roundRect">
            <a:avLst/>
          </a:prstGeom>
          <a:solidFill>
            <a:srgbClr val="E4F1FC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DSL extraction and outputs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dsl_engine.py + &lt;region&gt;_script.dsl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Write CSV/XLSX + all_texts/levels to results/csv/&lt;region&gt;</a:t>
            </a:r>
          </a:p>
          <a:p>
            <a:pPr algn="ctr">
              <a:defRPr sz="869" b="0">
                <a:solidFill>
                  <a:srgbClr val="232323"/>
                </a:solidFill>
                <a:latin typeface="Meiryo UI"/>
              </a:defRPr>
            </a:pPr>
            <a:r>
              <a:t>levels = L0/L1/L2 + pageNo, koujime re-evaluation (except 86/89)</a:t>
            </a:r>
          </a:p>
        </p:txBody>
      </p:sp>
      <p:sp>
        <p:nvSpPr>
          <p:cNvPr id="13" name="Diamond 12"/>
          <p:cNvSpPr/>
          <p:nvPr/>
        </p:nvSpPr>
        <p:spPr>
          <a:xfrm>
            <a:off x="4544568" y="4892040"/>
            <a:ext cx="3127248" cy="713232"/>
          </a:xfrm>
          <a:prstGeom prst="diamond">
            <a:avLst/>
          </a:prstGeom>
          <a:solidFill>
            <a:srgbClr val="DCEFDA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Decision 2: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Create merged summary Excel?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71432" y="4892040"/>
            <a:ext cx="2468880" cy="694944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Yes: run merge_region_summaries.py</a:t>
            </a:r>
          </a:p>
          <a:p>
            <a:pPr algn="l">
              <a:defRPr sz="880" b="0">
                <a:solidFill>
                  <a:srgbClr val="232323"/>
                </a:solidFill>
                <a:latin typeface="Meiryo UI"/>
              </a:defRPr>
            </a:pPr>
            <a:r>
              <a:t>Generate merged_*_summary_*.xlsx</a:t>
            </a:r>
          </a:p>
        </p:txBody>
      </p:sp>
      <p:sp>
        <p:nvSpPr>
          <p:cNvPr id="15" name="Terminator 14"/>
          <p:cNvSpPr/>
          <p:nvPr/>
        </p:nvSpPr>
        <p:spPr>
          <a:xfrm>
            <a:off x="2615184" y="5687568"/>
            <a:ext cx="6967728" cy="310896"/>
          </a:xfrm>
          <a:prstGeom prst="flowChartTerminator">
            <a:avLst/>
          </a:prstGeom>
          <a:solidFill>
            <a:srgbClr val="F2F2F2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Finish</a:t>
            </a:r>
          </a:p>
          <a:p>
            <a:pPr algn="ctr">
              <a:defRPr sz="960" b="1">
                <a:solidFill>
                  <a:srgbClr val="232323"/>
                </a:solidFill>
                <a:latin typeface="Meiryo UI"/>
              </a:defRPr>
            </a:pPr>
            <a:r>
              <a:t>Region-level CSV/Excel ready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0896" y="932688"/>
            <a:ext cx="2148840" cy="1783080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Notes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- Artifacts: &lt;project&gt;.csv / .xlsx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- *_all_texts_summary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- *_levels_summary</a:t>
            </a:r>
          </a:p>
          <a:p>
            <a:pPr algn="l">
              <a:defRPr sz="860" b="0">
                <a:solidFill>
                  <a:srgbClr val="232323"/>
                </a:solidFill>
                <a:latin typeface="Meiryo UI"/>
              </a:defRPr>
            </a:pPr>
            <a:r>
              <a:t>- No branch goes straight to next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10896" y="4636008"/>
            <a:ext cx="2148840" cy="1627632"/>
          </a:xfrm>
          <a:prstGeom prst="rect">
            <a:avLst/>
          </a:prstGeom>
          <a:solidFill>
            <a:srgbClr val="FFF9D6"/>
          </a:solidFill>
          <a:ln w="16510"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27432" bIns="27432"/>
          <a:lstStyle/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Execution modes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A) run_regions_pipeline.ps1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Re-run DSL from existing output3/test3/test4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B) run_pipeline.ps1</a:t>
            </a:r>
          </a:p>
          <a:p>
            <a:pPr algn="l">
              <a:defRPr sz="850" b="0">
                <a:solidFill>
                  <a:srgbClr val="232323"/>
                </a:solidFill>
                <a:latin typeface="Meiryo UI"/>
              </a:defRPr>
            </a:pPr>
            <a:r>
              <a:t>Run extraction -&gt; cleaning -&gt; merge -&gt; DSL end-to-end</a:t>
            </a:r>
          </a:p>
        </p:txBody>
      </p:sp>
      <p:sp>
        <p:nvSpPr>
          <p:cNvPr id="18" name="Down Arrow 17"/>
          <p:cNvSpPr/>
          <p:nvPr/>
        </p:nvSpPr>
        <p:spPr>
          <a:xfrm>
            <a:off x="5943600" y="1133856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5943600" y="162763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own Arrow 19"/>
          <p:cNvSpPr/>
          <p:nvPr/>
        </p:nvSpPr>
        <p:spPr>
          <a:xfrm>
            <a:off x="5943600" y="2194560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own Arrow 20"/>
          <p:cNvSpPr/>
          <p:nvPr/>
        </p:nvSpPr>
        <p:spPr>
          <a:xfrm>
            <a:off x="5943600" y="3584448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Down Arrow 21"/>
          <p:cNvSpPr/>
          <p:nvPr/>
        </p:nvSpPr>
        <p:spPr>
          <a:xfrm>
            <a:off x="5943600" y="418795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Down Arrow 22"/>
          <p:cNvSpPr/>
          <p:nvPr/>
        </p:nvSpPr>
        <p:spPr>
          <a:xfrm>
            <a:off x="5943600" y="4809744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Down Arrow 23"/>
          <p:cNvSpPr/>
          <p:nvPr/>
        </p:nvSpPr>
        <p:spPr>
          <a:xfrm>
            <a:off x="5943600" y="5605272"/>
            <a:ext cx="320040" cy="201168"/>
          </a:xfrm>
          <a:prstGeom prst="down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5" name="Connector 24"/>
          <p:cNvCxnSpPr/>
          <p:nvPr/>
        </p:nvCxnSpPr>
        <p:spPr>
          <a:xfrm>
            <a:off x="6099048" y="2788920"/>
            <a:ext cx="0" cy="100584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6355080" y="354787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No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7680960" y="3136392"/>
            <a:ext cx="512064" cy="201168"/>
          </a:xfrm>
          <a:prstGeom prst="right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83879" y="290779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Yes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0396728" y="3575304"/>
            <a:ext cx="0" cy="356616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>
            <a:off x="6099048" y="3931920"/>
            <a:ext cx="4297680" cy="0"/>
          </a:xfrm>
          <a:prstGeom prst="bentConnector3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ight Arrow 30"/>
          <p:cNvSpPr/>
          <p:nvPr/>
        </p:nvSpPr>
        <p:spPr>
          <a:xfrm>
            <a:off x="7680960" y="5148072"/>
            <a:ext cx="512064" cy="201168"/>
          </a:xfrm>
          <a:prstGeom prst="rightArrow">
            <a:avLst/>
          </a:prstGeom>
          <a:solidFill>
            <a:srgbClr val="366080"/>
          </a:solidFill>
          <a:ln>
            <a:solidFill>
              <a:srgbClr val="366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491947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Yes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55080" y="5559552"/>
            <a:ext cx="822960" cy="182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900" b="1">
                <a:solidFill>
                  <a:srgbClr val="366080"/>
                </a:solidFill>
                <a:latin typeface="Meiryo UI"/>
              </a:defRPr>
            </a:pPr>
            <a:r>
              <a:t>No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0396728" y="5586984"/>
            <a:ext cx="0" cy="246888"/>
          </a:xfrm>
          <a:prstGeom prst="line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>
            <a:off x="6099048" y="5833872"/>
            <a:ext cx="4297680" cy="0"/>
          </a:xfrm>
          <a:prstGeom prst="bentConnector3">
            <a:avLst/>
          </a:prstGeom>
          <a:ln w="15240">
            <a:solidFill>
              <a:srgbClr val="366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794</Words>
  <Application>Microsoft Office PowerPoint</Application>
  <PresentationFormat>Widescreen</PresentationFormat>
  <Paragraphs>109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Meiryo UI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ヤダフ アーユシュ</cp:lastModifiedBy>
  <cp:revision>6</cp:revision>
  <dcterms:created xsi:type="dcterms:W3CDTF">2013-01-27T09:14:16Z</dcterms:created>
  <dcterms:modified xsi:type="dcterms:W3CDTF">2026-03-10T09:44:32Z</dcterms:modified>
  <cp:category/>
</cp:coreProperties>
</file>