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4"/>
    <p:sldMasterId id="2147483824" r:id="rId5"/>
    <p:sldMasterId id="2147483836" r:id="rId6"/>
    <p:sldMasterId id="2147483869" r:id="rId7"/>
  </p:sldMasterIdLst>
  <p:notesMasterIdLst>
    <p:notesMasterId r:id="rId27"/>
  </p:notesMasterIdLst>
  <p:handoutMasterIdLst>
    <p:handoutMasterId r:id="rId28"/>
  </p:handoutMasterIdLst>
  <p:sldIdLst>
    <p:sldId id="1766" r:id="rId8"/>
    <p:sldId id="1767" r:id="rId9"/>
    <p:sldId id="1768" r:id="rId10"/>
    <p:sldId id="1769" r:id="rId11"/>
    <p:sldId id="1770" r:id="rId12"/>
    <p:sldId id="1771" r:id="rId13"/>
    <p:sldId id="1777" r:id="rId14"/>
    <p:sldId id="1772" r:id="rId15"/>
    <p:sldId id="1773" r:id="rId16"/>
    <p:sldId id="1778" r:id="rId17"/>
    <p:sldId id="1774" r:id="rId18"/>
    <p:sldId id="1779" r:id="rId19"/>
    <p:sldId id="1775" r:id="rId20"/>
    <p:sldId id="1780" r:id="rId21"/>
    <p:sldId id="1781" r:id="rId22"/>
    <p:sldId id="1776" r:id="rId23"/>
    <p:sldId id="1782" r:id="rId24"/>
    <p:sldId id="1783" r:id="rId25"/>
    <p:sldId id="1784" r:id="rId26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作成ルール・作成素材サンプル" id="{3B6A8E5D-7E67-4744-92AC-65E45E79F3D9}">
          <p14:sldIdLst>
            <p14:sldId id="1766"/>
            <p14:sldId id="1767"/>
            <p14:sldId id="1768"/>
            <p14:sldId id="1769"/>
            <p14:sldId id="1770"/>
            <p14:sldId id="1771"/>
            <p14:sldId id="1777"/>
            <p14:sldId id="1772"/>
            <p14:sldId id="1773"/>
            <p14:sldId id="1778"/>
            <p14:sldId id="1774"/>
            <p14:sldId id="1779"/>
            <p14:sldId id="1775"/>
            <p14:sldId id="1780"/>
            <p14:sldId id="1781"/>
            <p14:sldId id="1776"/>
            <p14:sldId id="1782"/>
            <p14:sldId id="1783"/>
            <p14:sldId id="1784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3974" userDrawn="1">
          <p15:clr>
            <a:srgbClr val="A4A3A4"/>
          </p15:clr>
        </p15:guide>
        <p15:guide id="3" orient="horz" pos="3407" userDrawn="1">
          <p15:clr>
            <a:srgbClr val="A4A3A4"/>
          </p15:clr>
        </p15:guide>
        <p15:guide id="4" orient="horz" pos="822" userDrawn="1">
          <p15:clr>
            <a:srgbClr val="A4A3A4"/>
          </p15:clr>
        </p15:guide>
        <p15:guide id="5" orient="horz" pos="89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438" userDrawn="1">
          <p15:clr>
            <a:srgbClr val="A4A3A4"/>
          </p15:clr>
        </p15:guide>
        <p15:guide id="8" pos="7287" userDrawn="1">
          <p15:clr>
            <a:srgbClr val="A4A3A4"/>
          </p15:clr>
        </p15:guide>
        <p15:guide id="9" pos="665" userDrawn="1">
          <p15:clr>
            <a:srgbClr val="A4A3A4"/>
          </p15:clr>
        </p15:guide>
        <p15:guide id="10" pos="7015" userDrawn="1">
          <p15:clr>
            <a:srgbClr val="A4A3A4"/>
          </p15:clr>
        </p15:guide>
        <p15:guide id="11" orient="horz" pos="1412" userDrawn="1">
          <p15:clr>
            <a:srgbClr val="A4A3A4"/>
          </p15:clr>
        </p15:guide>
        <p15:guide id="12" orient="horz" pos="2455" userDrawn="1">
          <p15:clr>
            <a:srgbClr val="A4A3A4"/>
          </p15:clr>
        </p15:guide>
        <p15:guide id="14" orient="horz" pos="2976" userDrawn="1">
          <p15:clr>
            <a:srgbClr val="A4A3A4"/>
          </p15:clr>
        </p15:guide>
        <p15:guide id="15" orient="horz" pos="3498" userDrawn="1">
          <p15:clr>
            <a:srgbClr val="A4A3A4"/>
          </p15:clr>
        </p15:guide>
        <p15:guide id="16" pos="4112" userDrawn="1">
          <p15:clr>
            <a:srgbClr val="A4A3A4"/>
          </p15:clr>
        </p15:guide>
        <p15:guide id="17" orient="horz" pos="19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神谷 聖二" initials="神谷" lastIdx="1" clrIdx="0">
    <p:extLst>
      <p:ext uri="{19B8F6BF-5375-455C-9EA6-DF929625EA0E}">
        <p15:presenceInfo xmlns:p15="http://schemas.microsoft.com/office/powerpoint/2012/main" userId="S::seiji.kamiya@tk.pacific.co.jp::517b2053-71b1-4492-bbd9-c8e4b39141e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7E4"/>
    <a:srgbClr val="C0504D"/>
    <a:srgbClr val="DEEBF7"/>
    <a:srgbClr val="FF0000"/>
    <a:srgbClr val="E6B9B8"/>
    <a:srgbClr val="4F81BD"/>
    <a:srgbClr val="F3F6EA"/>
    <a:srgbClr val="F7F9F1"/>
    <a:srgbClr val="F5F3F7"/>
    <a:srgbClr val="E9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9" autoAdjust="0"/>
    <p:restoredTop sz="94660"/>
  </p:normalViewPr>
  <p:slideViewPr>
    <p:cSldViewPr snapToGrid="0">
      <p:cViewPr varScale="1">
        <p:scale>
          <a:sx n="93" d="100"/>
          <a:sy n="93" d="100"/>
        </p:scale>
        <p:origin x="78" y="642"/>
      </p:cViewPr>
      <p:guideLst>
        <p:guide orient="horz" pos="3974"/>
        <p:guide orient="horz" pos="3407"/>
        <p:guide orient="horz" pos="822"/>
        <p:guide orient="horz" pos="890"/>
        <p:guide pos="3840"/>
        <p:guide pos="438"/>
        <p:guide pos="7287"/>
        <p:guide pos="665"/>
        <p:guide pos="7015"/>
        <p:guide orient="horz" pos="1412"/>
        <p:guide orient="horz" pos="2455"/>
        <p:guide orient="horz" pos="2976"/>
        <p:guide orient="horz" pos="3498"/>
        <p:guide pos="4112"/>
        <p:guide orient="horz" pos="1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4649" tIns="47325" rIns="94649" bIns="473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3992" y="1"/>
            <a:ext cx="3078428" cy="513508"/>
          </a:xfrm>
          <a:prstGeom prst="rect">
            <a:avLst/>
          </a:prstGeom>
        </p:spPr>
        <p:txBody>
          <a:bodyPr vert="horz" lIns="94649" tIns="47325" rIns="94649" bIns="47325" rtlCol="0"/>
          <a:lstStyle>
            <a:lvl1pPr algn="r">
              <a:defRPr sz="1200"/>
            </a:lvl1pPr>
          </a:lstStyle>
          <a:p>
            <a:fld id="{64E8FCD2-47E5-4EF3-B26A-8A6E0D026D06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9" tIns="47325" rIns="94649" bIns="473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9" tIns="47325" rIns="94649" bIns="47325" rtlCol="0" anchor="b"/>
          <a:lstStyle>
            <a:lvl1pPr algn="r">
              <a:defRPr sz="1200"/>
            </a:lvl1pPr>
          </a:lstStyle>
          <a:p>
            <a:fld id="{E666932D-88BA-4C92-9D24-8DED7D5E32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174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8" cy="513508"/>
          </a:xfrm>
          <a:prstGeom prst="rect">
            <a:avLst/>
          </a:prstGeom>
        </p:spPr>
        <p:txBody>
          <a:bodyPr vert="horz" lIns="94649" tIns="47325" rIns="94649" bIns="473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8" cy="513508"/>
          </a:xfrm>
          <a:prstGeom prst="rect">
            <a:avLst/>
          </a:prstGeom>
        </p:spPr>
        <p:txBody>
          <a:bodyPr vert="horz" lIns="94649" tIns="47325" rIns="94649" bIns="47325" rtlCol="0"/>
          <a:lstStyle>
            <a:lvl1pPr algn="r">
              <a:defRPr sz="1200"/>
            </a:lvl1pPr>
          </a:lstStyle>
          <a:p>
            <a:fld id="{5667B02E-605B-4793-8C4D-ACBAD48B4A6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9" tIns="47325" rIns="94649" bIns="4732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649" tIns="47325" rIns="94649" bIns="4732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9" tIns="47325" rIns="94649" bIns="473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9" tIns="47325" rIns="94649" bIns="47325" rtlCol="0" anchor="b"/>
          <a:lstStyle>
            <a:lvl1pPr algn="r">
              <a:defRPr sz="1200"/>
            </a:lvl1pPr>
          </a:lstStyle>
          <a:p>
            <a:fld id="{DFB7492F-6F45-4EC9-BB09-710BC74BE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9309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レイアウト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EEB03D-283A-4180-8062-F5766805E0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23" name="テキスト ボックス 8">
            <a:extLst>
              <a:ext uri="{FF2B5EF4-FFF2-40B4-BE49-F238E27FC236}">
                <a16:creationId xmlns:a16="http://schemas.microsoft.com/office/drawing/2014/main" id="{1CBAE524-5BC5-45DB-B1E5-4822B66280E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9" name="スライド番号プレースホルダー 5">
            <a:extLst>
              <a:ext uri="{FF2B5EF4-FFF2-40B4-BE49-F238E27FC236}">
                <a16:creationId xmlns:a16="http://schemas.microsoft.com/office/drawing/2014/main" id="{DB35BA73-F5B9-4C77-9A9A-21714C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8BA68F3-4407-4D70-A8B4-31EF17995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67F4B6-093E-404F-9569-EE607ECD6EBA}"/>
              </a:ext>
            </a:extLst>
          </p:cNvPr>
          <p:cNvCxnSpPr/>
          <p:nvPr userDrawn="1"/>
        </p:nvCxnSpPr>
        <p:spPr>
          <a:xfrm>
            <a:off x="1295467" y="894911"/>
            <a:ext cx="105499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087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845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7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図 157">
            <a:extLst>
              <a:ext uri="{FF2B5EF4-FFF2-40B4-BE49-F238E27FC236}">
                <a16:creationId xmlns:a16="http://schemas.microsoft.com/office/drawing/2014/main" id="{12C02F4C-6351-4088-9C8F-24BEFF216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34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43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79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2CD4EC-2E04-4A17-BA0F-85D9C5BC8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A59B38A4-7B9E-4875-B788-8F4A3D2E83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05C016FC-43E7-C203-15FC-62C9160B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2888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9430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13E4F5-ECCC-763C-CE50-3415D8CBDD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3ED56037-D92D-E7CE-99B9-7574EE93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8145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60C084-6CD5-BC70-4793-354B18176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B060757-0F57-0971-BD15-362A734D6AE7}"/>
              </a:ext>
            </a:extLst>
          </p:cNvPr>
          <p:cNvSpPr txBox="1">
            <a:spLocks/>
          </p:cNvSpPr>
          <p:nvPr userDrawn="1"/>
        </p:nvSpPr>
        <p:spPr>
          <a:xfrm>
            <a:off x="8831580" y="63403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197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7DB5C5-ECD6-814C-3AC8-85A8CC76B8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18" y="107207"/>
            <a:ext cx="11950262" cy="6640434"/>
          </a:xfrm>
          <a:prstGeom prst="rect">
            <a:avLst/>
          </a:prstGeom>
        </p:spPr>
      </p:pic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DAF4FBA8-DFC5-F921-1B7A-6C3150355510}"/>
              </a:ext>
            </a:extLst>
          </p:cNvPr>
          <p:cNvSpPr txBox="1">
            <a:spLocks/>
          </p:cNvSpPr>
          <p:nvPr userDrawn="1"/>
        </p:nvSpPr>
        <p:spPr>
          <a:xfrm>
            <a:off x="8831580" y="632924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7573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C77C91-8A0A-4964-A0DE-60C631691D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8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0" y="322894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spc="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you.</a:t>
            </a:r>
            <a:endParaRPr kumimoji="1" lang="ja-JP" altLang="en-US" sz="2000" spc="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8">
            <a:extLst>
              <a:ext uri="{FF2B5EF4-FFF2-40B4-BE49-F238E27FC236}">
                <a16:creationId xmlns:a16="http://schemas.microsoft.com/office/drawing/2014/main" id="{40AEF22E-4BA6-457E-9670-3874CE54CBFD}"/>
              </a:ext>
            </a:extLst>
          </p:cNvPr>
          <p:cNvSpPr txBox="1"/>
          <p:nvPr userDrawn="1"/>
        </p:nvSpPr>
        <p:spPr>
          <a:xfrm>
            <a:off x="10185565" y="6571552"/>
            <a:ext cx="182421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E997E3A-E318-41C2-9794-1E8B34EED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616725" y="4781804"/>
            <a:ext cx="2958549" cy="252000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572278B8-DAB2-6FFC-CF03-5A65BCE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8585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609600" y="1017913"/>
            <a:ext cx="828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09600" y="3578087"/>
            <a:ext cx="8280000" cy="13831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+mn-ea"/>
                <a:ea typeface="+mn-ea"/>
                <a:cs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Sub-Title</a:t>
            </a:r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391626"/>
            <a:ext cx="634576" cy="360000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F3AFA331-E48C-4FB7-9FF6-9107360A5F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3625" y="4519660"/>
            <a:ext cx="1798775" cy="1798775"/>
          </a:xfrm>
          <a:prstGeom prst="rect">
            <a:avLst/>
          </a:prstGeom>
        </p:spPr>
      </p:pic>
      <p:sp>
        <p:nvSpPr>
          <p:cNvPr id="12" name="テキスト ボックス 8">
            <a:extLst>
              <a:ext uri="{FF2B5EF4-FFF2-40B4-BE49-F238E27FC236}">
                <a16:creationId xmlns:a16="http://schemas.microsoft.com/office/drawing/2014/main" id="{DD21881F-1BE8-4760-985F-12A828CD5BB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53A0A7B9-339D-4EC3-8F30-F9B932A609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297" y="5840087"/>
            <a:ext cx="8712000" cy="4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pos="39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レイアウト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EEB03D-283A-4180-8062-F5766805E0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23" name="テキスト ボックス 8">
            <a:extLst>
              <a:ext uri="{FF2B5EF4-FFF2-40B4-BE49-F238E27FC236}">
                <a16:creationId xmlns:a16="http://schemas.microsoft.com/office/drawing/2014/main" id="{1CBAE524-5BC5-45DB-B1E5-4822B66280E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9" name="スライド番号プレースホルダー 5">
            <a:extLst>
              <a:ext uri="{FF2B5EF4-FFF2-40B4-BE49-F238E27FC236}">
                <a16:creationId xmlns:a16="http://schemas.microsoft.com/office/drawing/2014/main" id="{DB35BA73-F5B9-4C77-9A9A-21714C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8BA68F3-4407-4D70-A8B4-31EF17995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67F4B6-093E-404F-9569-EE607ECD6EBA}"/>
              </a:ext>
            </a:extLst>
          </p:cNvPr>
          <p:cNvCxnSpPr/>
          <p:nvPr userDrawn="1"/>
        </p:nvCxnSpPr>
        <p:spPr>
          <a:xfrm>
            <a:off x="1295467" y="894911"/>
            <a:ext cx="105499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A5E7D6-702E-E277-C018-067CB542D2C8}"/>
              </a:ext>
            </a:extLst>
          </p:cNvPr>
          <p:cNvSpPr txBox="1">
            <a:spLocks/>
          </p:cNvSpPr>
          <p:nvPr userDrawn="1"/>
        </p:nvSpPr>
        <p:spPr>
          <a:xfrm>
            <a:off x="11173881" y="8620"/>
            <a:ext cx="1045478" cy="170816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>
              <a:spcAft>
                <a:spcPct val="0"/>
              </a:spcAft>
            </a:pPr>
            <a:r>
              <a:rPr lang="en-US" altLang="ja-JP" sz="900">
                <a:solidFill>
                  <a:srgbClr val="2447BC"/>
                </a:solidFill>
              </a:rPr>
              <a:t>【 CONFIDENTIAL 】</a:t>
            </a:r>
            <a:endParaRPr lang="ja-JP" altLang="en-US" sz="900">
              <a:solidFill>
                <a:srgbClr val="2447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326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845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7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レイアウト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EEB03D-283A-4180-8062-F5766805E0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23" name="テキスト ボックス 8">
            <a:extLst>
              <a:ext uri="{FF2B5EF4-FFF2-40B4-BE49-F238E27FC236}">
                <a16:creationId xmlns:a16="http://schemas.microsoft.com/office/drawing/2014/main" id="{1CBAE524-5BC5-45DB-B1E5-4822B66280E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9" name="スライド番号プレースホルダー 5">
            <a:extLst>
              <a:ext uri="{FF2B5EF4-FFF2-40B4-BE49-F238E27FC236}">
                <a16:creationId xmlns:a16="http://schemas.microsoft.com/office/drawing/2014/main" id="{DB35BA73-F5B9-4C77-9A9A-21714C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8BA68F3-4407-4D70-A8B4-31EF17995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67F4B6-093E-404F-9569-EE607ECD6EBA}"/>
              </a:ext>
            </a:extLst>
          </p:cNvPr>
          <p:cNvCxnSpPr/>
          <p:nvPr userDrawn="1"/>
        </p:nvCxnSpPr>
        <p:spPr>
          <a:xfrm>
            <a:off x="1295467" y="894911"/>
            <a:ext cx="105499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94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845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7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図 157">
            <a:extLst>
              <a:ext uri="{FF2B5EF4-FFF2-40B4-BE49-F238E27FC236}">
                <a16:creationId xmlns:a16="http://schemas.microsoft.com/office/drawing/2014/main" id="{12C02F4C-6351-4088-9C8F-24BEFF2165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748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127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2CD4EC-2E04-4A17-BA0F-85D9C5BC85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A59B38A4-7B9E-4875-B788-8F4A3D2E83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05C016FC-43E7-C203-15FC-62C9160B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BE93BBD-F7A2-A903-A4FE-7BE7BE87CBC6}"/>
              </a:ext>
            </a:extLst>
          </p:cNvPr>
          <p:cNvSpPr txBox="1">
            <a:spLocks/>
          </p:cNvSpPr>
          <p:nvPr userDrawn="1"/>
        </p:nvSpPr>
        <p:spPr>
          <a:xfrm>
            <a:off x="11173881" y="8620"/>
            <a:ext cx="1045478" cy="170816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>
              <a:spcAft>
                <a:spcPct val="0"/>
              </a:spcAft>
            </a:pPr>
            <a:r>
              <a:rPr lang="en-US" altLang="ja-JP" sz="900">
                <a:solidFill>
                  <a:srgbClr val="2447BC"/>
                </a:solidFill>
              </a:rPr>
              <a:t>【 CONFIDENTIAL 】</a:t>
            </a:r>
            <a:endParaRPr lang="ja-JP" altLang="en-US" sz="900">
              <a:solidFill>
                <a:srgbClr val="2447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38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62713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13E4F5-ECCC-763C-CE50-3415D8CBD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3ED56037-D92D-E7CE-99B9-7574EE93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1661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60C084-6CD5-BC70-4793-354B18176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B060757-0F57-0971-BD15-362A734D6AE7}"/>
              </a:ext>
            </a:extLst>
          </p:cNvPr>
          <p:cNvSpPr txBox="1">
            <a:spLocks/>
          </p:cNvSpPr>
          <p:nvPr userDrawn="1"/>
        </p:nvSpPr>
        <p:spPr>
          <a:xfrm>
            <a:off x="8831580" y="63403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72722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7DB5C5-ECD6-814C-3AC8-85A8CC76B8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18" y="107207"/>
            <a:ext cx="11950262" cy="6640434"/>
          </a:xfrm>
          <a:prstGeom prst="rect">
            <a:avLst/>
          </a:prstGeom>
        </p:spPr>
      </p:pic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DAF4FBA8-DFC5-F921-1B7A-6C3150355510}"/>
              </a:ext>
            </a:extLst>
          </p:cNvPr>
          <p:cNvSpPr txBox="1">
            <a:spLocks/>
          </p:cNvSpPr>
          <p:nvPr userDrawn="1"/>
        </p:nvSpPr>
        <p:spPr>
          <a:xfrm>
            <a:off x="8831580" y="632924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73982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C77C91-8A0A-4964-A0DE-60C631691D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8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0" y="322894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spc="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you.</a:t>
            </a:r>
            <a:endParaRPr kumimoji="1" lang="ja-JP" altLang="en-US" sz="2000" spc="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8">
            <a:extLst>
              <a:ext uri="{FF2B5EF4-FFF2-40B4-BE49-F238E27FC236}">
                <a16:creationId xmlns:a16="http://schemas.microsoft.com/office/drawing/2014/main" id="{40AEF22E-4BA6-457E-9670-3874CE54CBFD}"/>
              </a:ext>
            </a:extLst>
          </p:cNvPr>
          <p:cNvSpPr txBox="1"/>
          <p:nvPr userDrawn="1"/>
        </p:nvSpPr>
        <p:spPr>
          <a:xfrm>
            <a:off x="10185565" y="6571552"/>
            <a:ext cx="182421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E997E3A-E318-41C2-9794-1E8B34EED8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6725" y="4781804"/>
            <a:ext cx="2958549" cy="252000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572278B8-DAB2-6FFC-CF03-5A65BCE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3509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609600" y="1017913"/>
            <a:ext cx="828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09600" y="3578087"/>
            <a:ext cx="8280000" cy="13831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+mn-ea"/>
                <a:ea typeface="+mn-ea"/>
                <a:cs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Sub-Title</a:t>
            </a:r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391626"/>
            <a:ext cx="634576" cy="360000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F3AFA331-E48C-4FB7-9FF6-9107360A5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3625" y="4519660"/>
            <a:ext cx="1798775" cy="1798775"/>
          </a:xfrm>
          <a:prstGeom prst="rect">
            <a:avLst/>
          </a:prstGeom>
        </p:spPr>
      </p:pic>
      <p:sp>
        <p:nvSpPr>
          <p:cNvPr id="12" name="テキスト ボックス 8">
            <a:extLst>
              <a:ext uri="{FF2B5EF4-FFF2-40B4-BE49-F238E27FC236}">
                <a16:creationId xmlns:a16="http://schemas.microsoft.com/office/drawing/2014/main" id="{DD21881F-1BE8-4760-985F-12A828CD5BB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53A0A7B9-339D-4EC3-8F30-F9B932A609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297" y="5840087"/>
            <a:ext cx="8712000" cy="4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72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pos="39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レイアウト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EEB03D-283A-4180-8062-F5766805E0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23" name="テキスト ボックス 8">
            <a:extLst>
              <a:ext uri="{FF2B5EF4-FFF2-40B4-BE49-F238E27FC236}">
                <a16:creationId xmlns:a16="http://schemas.microsoft.com/office/drawing/2014/main" id="{1CBAE524-5BC5-45DB-B1E5-4822B66280E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9" name="スライド番号プレースホルダー 5">
            <a:extLst>
              <a:ext uri="{FF2B5EF4-FFF2-40B4-BE49-F238E27FC236}">
                <a16:creationId xmlns:a16="http://schemas.microsoft.com/office/drawing/2014/main" id="{DB35BA73-F5B9-4C77-9A9A-21714C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8BA68F3-4407-4D70-A8B4-31EF17995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67F4B6-093E-404F-9569-EE607ECD6EBA}"/>
              </a:ext>
            </a:extLst>
          </p:cNvPr>
          <p:cNvCxnSpPr/>
          <p:nvPr userDrawn="1"/>
        </p:nvCxnSpPr>
        <p:spPr>
          <a:xfrm>
            <a:off x="1295467" y="894911"/>
            <a:ext cx="105499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4383BC-0845-184D-4B65-E549DAEA9462}"/>
              </a:ext>
            </a:extLst>
          </p:cNvPr>
          <p:cNvSpPr txBox="1">
            <a:spLocks/>
          </p:cNvSpPr>
          <p:nvPr userDrawn="1"/>
        </p:nvSpPr>
        <p:spPr>
          <a:xfrm>
            <a:off x="11173881" y="8620"/>
            <a:ext cx="1045478" cy="170816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>
              <a:spcAft>
                <a:spcPct val="0"/>
              </a:spcAft>
            </a:pPr>
            <a:r>
              <a:rPr lang="en-US" altLang="ja-JP" sz="900">
                <a:solidFill>
                  <a:srgbClr val="2447BC"/>
                </a:solidFill>
              </a:rPr>
              <a:t>【 CONFIDENTIAL 】</a:t>
            </a:r>
            <a:endParaRPr lang="ja-JP" altLang="en-US" sz="900">
              <a:solidFill>
                <a:srgbClr val="2447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845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70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図 157">
            <a:extLst>
              <a:ext uri="{FF2B5EF4-FFF2-40B4-BE49-F238E27FC236}">
                <a16:creationId xmlns:a16="http://schemas.microsoft.com/office/drawing/2014/main" id="{12C02F4C-6351-4088-9C8F-24BEFF216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084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テキスト プレースホルダー 11">
            <a:extLst>
              <a:ext uri="{FF2B5EF4-FFF2-40B4-BE49-F238E27FC236}">
                <a16:creationId xmlns:a16="http://schemas.microsoft.com/office/drawing/2014/main" id="{8C2499B6-B02E-4F96-9883-776323CCFD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448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8753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2CD4EC-2E04-4A17-BA0F-85D9C5BC8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A59B38A4-7B9E-4875-B788-8F4A3D2E83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05C016FC-43E7-C203-15FC-62C9160B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58582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901142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013E4F5-ECCC-763C-CE50-3415D8CBDD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3ED56037-D92D-E7CE-99B9-7574EE93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77283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60C084-6CD5-BC70-4793-354B18176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B060757-0F57-0971-BD15-362A734D6AE7}"/>
              </a:ext>
            </a:extLst>
          </p:cNvPr>
          <p:cNvSpPr txBox="1">
            <a:spLocks/>
          </p:cNvSpPr>
          <p:nvPr userDrawn="1"/>
        </p:nvSpPr>
        <p:spPr>
          <a:xfrm>
            <a:off x="8831580" y="63403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27611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7DB5C5-ECD6-814C-3AC8-85A8CC76B8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18" y="107207"/>
            <a:ext cx="11950262" cy="6640434"/>
          </a:xfrm>
          <a:prstGeom prst="rect">
            <a:avLst/>
          </a:prstGeom>
        </p:spPr>
      </p:pic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DAF4FBA8-DFC5-F921-1B7A-6C3150355510}"/>
              </a:ext>
            </a:extLst>
          </p:cNvPr>
          <p:cNvSpPr txBox="1">
            <a:spLocks/>
          </p:cNvSpPr>
          <p:nvPr userDrawn="1"/>
        </p:nvSpPr>
        <p:spPr>
          <a:xfrm>
            <a:off x="8831580" y="632924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90605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C77C91-8A0A-4964-A0DE-60C631691D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8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0" y="322894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spc="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you.</a:t>
            </a:r>
            <a:endParaRPr kumimoji="1" lang="ja-JP" altLang="en-US" sz="2000" spc="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8">
            <a:extLst>
              <a:ext uri="{FF2B5EF4-FFF2-40B4-BE49-F238E27FC236}">
                <a16:creationId xmlns:a16="http://schemas.microsoft.com/office/drawing/2014/main" id="{40AEF22E-4BA6-457E-9670-3874CE54CBFD}"/>
              </a:ext>
            </a:extLst>
          </p:cNvPr>
          <p:cNvSpPr txBox="1"/>
          <p:nvPr userDrawn="1"/>
        </p:nvSpPr>
        <p:spPr>
          <a:xfrm>
            <a:off x="10185565" y="6571552"/>
            <a:ext cx="182421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E997E3A-E318-41C2-9794-1E8B34EED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616725" y="4781804"/>
            <a:ext cx="2958549" cy="252000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572278B8-DAB2-6FFC-CF03-5A65BCE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49277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B7BE99E6-B8F4-2529-1A38-F5F874C9E365}"/>
              </a:ext>
            </a:extLst>
          </p:cNvPr>
          <p:cNvSpPr txBox="1">
            <a:spLocks/>
          </p:cNvSpPr>
          <p:nvPr userDrawn="1"/>
        </p:nvSpPr>
        <p:spPr>
          <a:xfrm>
            <a:off x="11173881" y="8620"/>
            <a:ext cx="1045478" cy="170816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>
              <a:spcAft>
                <a:spcPct val="0"/>
              </a:spcAft>
            </a:pPr>
            <a:r>
              <a:rPr lang="en-US" altLang="ja-JP" sz="900">
                <a:solidFill>
                  <a:srgbClr val="2447BC"/>
                </a:solidFill>
              </a:rPr>
              <a:t>【 CONFIDENTIAL 】</a:t>
            </a:r>
            <a:endParaRPr lang="ja-JP" altLang="en-US" sz="900">
              <a:solidFill>
                <a:srgbClr val="2447BC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8E59569-2DF6-B9EF-DBCE-A56E86B130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045478" cy="1019308"/>
          </a:xfrm>
          <a:prstGeom prst="rect">
            <a:avLst/>
          </a:prstGeom>
        </p:spPr>
      </p:pic>
      <p:sp>
        <p:nvSpPr>
          <p:cNvPr id="10" name="タイトル 1">
            <a:extLst>
              <a:ext uri="{FF2B5EF4-FFF2-40B4-BE49-F238E27FC236}">
                <a16:creationId xmlns:a16="http://schemas.microsoft.com/office/drawing/2014/main" id="{C04F8D49-7E66-CF3D-CE9E-93604B8859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4912" y="71415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rgbClr val="00489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1" name="サブタイトル 2">
            <a:extLst>
              <a:ext uri="{FF2B5EF4-FFF2-40B4-BE49-F238E27FC236}">
                <a16:creationId xmlns:a16="http://schemas.microsoft.com/office/drawing/2014/main" id="{9FECD51E-C8A6-8F05-E216-5AAB509074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4913" y="613389"/>
            <a:ext cx="9982132" cy="406396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7A2AC75-715B-72F1-EFB2-372B6DA34FCA}"/>
              </a:ext>
            </a:extLst>
          </p:cNvPr>
          <p:cNvCxnSpPr>
            <a:cxnSpLocks/>
          </p:cNvCxnSpPr>
          <p:nvPr userDrawn="1"/>
        </p:nvCxnSpPr>
        <p:spPr>
          <a:xfrm>
            <a:off x="1191748" y="545488"/>
            <a:ext cx="998213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1493E61F-FDB1-8FCD-BEC1-A536957A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391203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図 157">
            <a:extLst>
              <a:ext uri="{FF2B5EF4-FFF2-40B4-BE49-F238E27FC236}">
                <a16:creationId xmlns:a16="http://schemas.microsoft.com/office/drawing/2014/main" id="{12C02F4C-6351-4088-9C8F-24BEFF2165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20FCD205-BAA5-D739-1D3D-C935E63E33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63557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スライド番号プレースホルダー 5">
            <a:extLst>
              <a:ext uri="{FF2B5EF4-FFF2-40B4-BE49-F238E27FC236}">
                <a16:creationId xmlns:a16="http://schemas.microsoft.com/office/drawing/2014/main" id="{2D4084EC-BD64-4882-A03C-36F0438A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61" name="テキスト ボックス 8">
            <a:extLst>
              <a:ext uri="{FF2B5EF4-FFF2-40B4-BE49-F238E27FC236}">
                <a16:creationId xmlns:a16="http://schemas.microsoft.com/office/drawing/2014/main" id="{907224A0-FDC0-48C1-92CF-47D4488DD335}"/>
              </a:ext>
            </a:extLst>
          </p:cNvPr>
          <p:cNvSpPr txBox="1"/>
          <p:nvPr userDrawn="1"/>
        </p:nvSpPr>
        <p:spPr>
          <a:xfrm>
            <a:off x="9876458" y="6611588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FA989B6-8B22-E8DD-4C3C-12C4495DD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D5BC3DF-B09E-558C-408F-C7351AA28738}"/>
              </a:ext>
            </a:extLst>
          </p:cNvPr>
          <p:cNvSpPr txBox="1">
            <a:spLocks/>
          </p:cNvSpPr>
          <p:nvPr userDrawn="1"/>
        </p:nvSpPr>
        <p:spPr>
          <a:xfrm>
            <a:off x="11058464" y="8620"/>
            <a:ext cx="1160895" cy="174278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base">
              <a:spcAft>
                <a:spcPct val="0"/>
              </a:spcAft>
            </a:pPr>
            <a:r>
              <a:rPr lang="en-US" altLang="ja-JP" sz="900">
                <a:solidFill>
                  <a:schemeClr val="tx1">
                    <a:lumMod val="50000"/>
                    <a:lumOff val="50000"/>
                  </a:schemeClr>
                </a:solidFill>
              </a:rPr>
              <a:t>【 CONFIDENTIAL 】</a:t>
            </a:r>
            <a:endParaRPr lang="ja-JP" alt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0713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2CD4EC-2E04-4A17-BA0F-85D9C5BC85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05C016FC-43E7-C203-15FC-62C9160B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EDD8D38A-905D-5841-E9F2-9180B8CCC3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18751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AD1E5359-921B-A6FB-7B7A-BF888DAA25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549325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60C084-6CD5-BC70-4793-354B18176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469" y="914400"/>
            <a:ext cx="11255062" cy="5460975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B060757-0F57-0971-BD15-362A734D6AE7}"/>
              </a:ext>
            </a:extLst>
          </p:cNvPr>
          <p:cNvSpPr txBox="1">
            <a:spLocks/>
          </p:cNvSpPr>
          <p:nvPr userDrawn="1"/>
        </p:nvSpPr>
        <p:spPr>
          <a:xfrm>
            <a:off x="8831580" y="63403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CAAC1CC7-68E3-57D6-774E-1E6F2FFCEC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012761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8AE24D4-1E48-DC76-3C51-A7E298F10D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02" y="109440"/>
            <a:ext cx="11949196" cy="663911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B060757-0F57-0971-BD15-362A734D6AE7}"/>
              </a:ext>
            </a:extLst>
          </p:cNvPr>
          <p:cNvSpPr txBox="1">
            <a:spLocks/>
          </p:cNvSpPr>
          <p:nvPr userDrawn="1"/>
        </p:nvSpPr>
        <p:spPr>
          <a:xfrm>
            <a:off x="8831580" y="634036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DA3606E-C79D-2C3B-94A2-65D12F8C39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374739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75C3573-75F4-0472-4980-7DC149536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8B170226-88E7-63C9-0745-14B1C9B7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7DB5C5-ECD6-814C-3AC8-85A8CC76B8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18" y="107207"/>
            <a:ext cx="11950262" cy="6640434"/>
          </a:xfrm>
          <a:prstGeom prst="rect">
            <a:avLst/>
          </a:prstGeom>
        </p:spPr>
      </p:pic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DAF4FBA8-DFC5-F921-1B7A-6C3150355510}"/>
              </a:ext>
            </a:extLst>
          </p:cNvPr>
          <p:cNvSpPr txBox="1">
            <a:spLocks/>
          </p:cNvSpPr>
          <p:nvPr userDrawn="1"/>
        </p:nvSpPr>
        <p:spPr>
          <a:xfrm>
            <a:off x="8831580" y="632924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24A714-972D-431A-872C-1B0FE76119C1}" type="slidenum">
              <a:rPr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E488A039-C5D2-A89B-AEC1-2E58E46831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431" y="266487"/>
            <a:ext cx="9982133" cy="491897"/>
          </a:xfrm>
        </p:spPr>
        <p:txBody>
          <a:bodyPr anchor="b"/>
          <a:lstStyle>
            <a:lvl1pPr algn="l">
              <a:defRPr sz="3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937357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C77C91-8A0A-4964-A0DE-60C631691D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8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0" y="322894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spc="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you.</a:t>
            </a:r>
            <a:endParaRPr kumimoji="1" lang="ja-JP" altLang="en-US" sz="2000" spc="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8">
            <a:extLst>
              <a:ext uri="{FF2B5EF4-FFF2-40B4-BE49-F238E27FC236}">
                <a16:creationId xmlns:a16="http://schemas.microsoft.com/office/drawing/2014/main" id="{40AEF22E-4BA6-457E-9670-3874CE54CBFD}"/>
              </a:ext>
            </a:extLst>
          </p:cNvPr>
          <p:cNvSpPr txBox="1"/>
          <p:nvPr userDrawn="1"/>
        </p:nvSpPr>
        <p:spPr>
          <a:xfrm>
            <a:off x="10185565" y="6571552"/>
            <a:ext cx="182421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E997E3A-E318-41C2-9794-1E8B34EED8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6725" y="4781804"/>
            <a:ext cx="2958549" cy="252000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572278B8-DAB2-6FFC-CF03-5A65BCE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785223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レイアウト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EEB03D-283A-4180-8062-F5766805E0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23" name="テキスト ボックス 8">
            <a:extLst>
              <a:ext uri="{FF2B5EF4-FFF2-40B4-BE49-F238E27FC236}">
                <a16:creationId xmlns:a16="http://schemas.microsoft.com/office/drawing/2014/main" id="{1CBAE524-5BC5-45DB-B1E5-4822B66280E4}"/>
              </a:ext>
            </a:extLst>
          </p:cNvPr>
          <p:cNvSpPr txBox="1"/>
          <p:nvPr userDrawn="1"/>
        </p:nvSpPr>
        <p:spPr>
          <a:xfrm>
            <a:off x="10121900" y="6571552"/>
            <a:ext cx="1887883" cy="127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altLang="ja-JP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rPr>
              <a:t>© PACIFIC CONSULTANTS CO., LTD. </a:t>
            </a:r>
            <a:endParaRPr lang="ja-JP" altLang="en-US" sz="800" kern="120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9" name="スライド番号プレースホルダー 5">
            <a:extLst>
              <a:ext uri="{FF2B5EF4-FFF2-40B4-BE49-F238E27FC236}">
                <a16:creationId xmlns:a16="http://schemas.microsoft.com/office/drawing/2014/main" id="{DB35BA73-F5B9-4C77-9A9A-21714CB0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1580" y="632338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B424A714-972D-431A-872C-1B0FE76119C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8BA68F3-4407-4D70-A8B4-31EF17995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8700" y="318705"/>
            <a:ext cx="9919411" cy="5528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 panose="020B0400000000000000" pitchFamily="50" charset="-128"/>
              </a:defRPr>
            </a:lvl1pPr>
          </a:lstStyle>
          <a:p>
            <a:pPr lvl="0"/>
            <a:r>
              <a:rPr kumimoji="1" lang="ja-JP" altLang="en-US"/>
              <a:t>メッセージ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67F4B6-093E-404F-9569-EE607ECD6EBA}"/>
              </a:ext>
            </a:extLst>
          </p:cNvPr>
          <p:cNvCxnSpPr/>
          <p:nvPr userDrawn="1"/>
        </p:nvCxnSpPr>
        <p:spPr>
          <a:xfrm>
            <a:off x="1295467" y="894911"/>
            <a:ext cx="105499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73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pos="7287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845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70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65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83" r:id="rId3"/>
    <p:sldLayoutId id="2147483686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63" r:id="rId10"/>
    <p:sldLayoutId id="2147483687" r:id="rId11"/>
    <p:sldLayoutId id="2147483849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→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▷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43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→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▷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6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→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▷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8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→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小塚ゴシック Pro L" panose="020B0200000000000000" pitchFamily="34" charset="-128"/>
        <a:buChar char="▷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AA6426-A1D2-88F3-046A-199B0231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541FF8-C02C-1B09-AAF9-832D95905392}"/>
              </a:ext>
            </a:extLst>
          </p:cNvPr>
          <p:cNvSpPr txBox="1"/>
          <p:nvPr/>
        </p:nvSpPr>
        <p:spPr>
          <a:xfrm>
            <a:off x="2555913" y="1821489"/>
            <a:ext cx="71004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dirty="0"/>
              <a:t>入札説明書抽出ツール </a:t>
            </a:r>
            <a:endParaRPr lang="en-US" altLang="ja-JP" sz="4000" dirty="0"/>
          </a:p>
          <a:p>
            <a:pPr algn="ctr"/>
            <a:r>
              <a:rPr lang="ja-JP" altLang="en-US" sz="4000" dirty="0"/>
              <a:t>キーワード変更マニュアル</a:t>
            </a:r>
          </a:p>
        </p:txBody>
      </p:sp>
    </p:spTree>
    <p:extLst>
      <p:ext uri="{BB962C8B-B14F-4D97-AF65-F5344CB8AC3E}">
        <p14:creationId xmlns:p14="http://schemas.microsoft.com/office/powerpoint/2010/main" val="385092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93FBB45-837B-2532-2506-888FF71C8D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5328B7-555F-7507-14C0-578EAC41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594F85-F77F-2C13-53C3-9FE961816271}"/>
              </a:ext>
            </a:extLst>
          </p:cNvPr>
          <p:cNvSpPr txBox="1"/>
          <p:nvPr/>
        </p:nvSpPr>
        <p:spPr>
          <a:xfrm>
            <a:off x="614190" y="1017326"/>
            <a:ext cx="109605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1. </a:t>
            </a:r>
            <a:r>
              <a:rPr lang="ja-JP" altLang="en-US" dirty="0"/>
              <a:t>本マニュアルの目的</a:t>
            </a:r>
          </a:p>
          <a:p>
            <a:endParaRPr lang="ja-JP" altLang="en-US" dirty="0"/>
          </a:p>
          <a:p>
            <a:r>
              <a:rPr lang="ja-JP" altLang="en-US" dirty="0"/>
              <a:t>本マニュアルは、入札説明書抽出ツールにおいて、抽出条件のキーワードを追加・変更・調整する方法を説明するものである。</a:t>
            </a:r>
          </a:p>
          <a:p>
            <a:endParaRPr lang="ja-JP" altLang="en-US" dirty="0"/>
          </a:p>
          <a:p>
            <a:r>
              <a:rPr lang="ja-JP" altLang="en-US" dirty="0"/>
              <a:t>本ツールは、</a:t>
            </a:r>
            <a:r>
              <a:rPr lang="en-US" altLang="ja-JP" dirty="0"/>
              <a:t>Python</a:t>
            </a:r>
            <a:r>
              <a:rPr lang="ja-JP" altLang="en-US" dirty="0"/>
              <a:t>プログラム本体を修正しなくても、</a:t>
            </a:r>
            <a:r>
              <a:rPr lang="en-US" altLang="ja-JP" dirty="0"/>
              <a:t>DSL</a:t>
            </a:r>
            <a:r>
              <a:rPr lang="ja-JP" altLang="en-US" dirty="0"/>
              <a:t>ファイルに記載されたキーワードを見直すことで、抽出条件を調整できる構成となっている。したがって、運用上の表現差や記載ゆれに対応する場合は、原則として</a:t>
            </a:r>
            <a:r>
              <a:rPr lang="en-US" altLang="ja-JP" dirty="0"/>
              <a:t>Python</a:t>
            </a:r>
            <a:r>
              <a:rPr lang="ja-JP" altLang="en-US" dirty="0"/>
              <a:t>コードではなく</a:t>
            </a:r>
            <a:r>
              <a:rPr lang="en-US" altLang="ja-JP" dirty="0"/>
              <a:t>DSL</a:t>
            </a:r>
            <a:r>
              <a:rPr lang="ja-JP" altLang="en-US" dirty="0"/>
              <a:t>ファイルを修正する。</a:t>
            </a:r>
          </a:p>
          <a:p>
            <a:endParaRPr lang="ja-JP" altLang="en-US" dirty="0"/>
          </a:p>
          <a:p>
            <a:r>
              <a:rPr lang="ja-JP" altLang="en-US" dirty="0"/>
              <a:t>本マニュアルの対象者は以下のとおりである。</a:t>
            </a:r>
          </a:p>
          <a:p>
            <a:endParaRPr lang="ja-JP" altLang="en-US" dirty="0"/>
          </a:p>
          <a:p>
            <a:r>
              <a:rPr lang="ja-JP" altLang="en-US" dirty="0"/>
              <a:t>・抽出条件の確認や見直しを行う担当者</a:t>
            </a:r>
          </a:p>
          <a:p>
            <a:r>
              <a:rPr lang="ja-JP" altLang="en-US" dirty="0"/>
              <a:t>・地方整備局ごとの記載差に対応する担当者</a:t>
            </a:r>
          </a:p>
          <a:p>
            <a:r>
              <a:rPr lang="ja-JP" altLang="en-US" dirty="0"/>
              <a:t>・プログラム本体には触れず、キーワードのみ調整したい利用者</a:t>
            </a:r>
          </a:p>
        </p:txBody>
      </p:sp>
    </p:spTree>
    <p:extLst>
      <p:ext uri="{BB962C8B-B14F-4D97-AF65-F5344CB8AC3E}">
        <p14:creationId xmlns:p14="http://schemas.microsoft.com/office/powerpoint/2010/main" val="270464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0F60-B6DD-8003-D37E-ADFC4DAA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65E92D1-D8BC-443C-75F1-A0DC9FB536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4C365F-B0CF-E352-31A5-06BD8177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8A9593-5E2A-4FA0-926A-3373DFEC5EB7}"/>
              </a:ext>
            </a:extLst>
          </p:cNvPr>
          <p:cNvSpPr txBox="1"/>
          <p:nvPr/>
        </p:nvSpPr>
        <p:spPr>
          <a:xfrm>
            <a:off x="614190" y="1017326"/>
            <a:ext cx="109605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2. </a:t>
            </a:r>
            <a:r>
              <a:rPr lang="ja-JP" altLang="en-US" dirty="0"/>
              <a:t>このツールでキーワード変更が必要になる理由</a:t>
            </a:r>
          </a:p>
          <a:p>
            <a:endParaRPr lang="ja-JP" altLang="en-US" dirty="0"/>
          </a:p>
          <a:p>
            <a:r>
              <a:rPr lang="ja-JP" altLang="en-US" dirty="0"/>
              <a:t>入札説明書は、記載内容が似ていても、発注機関や地域によって表現が異なることがある。</a:t>
            </a:r>
          </a:p>
          <a:p>
            <a:endParaRPr lang="ja-JP" altLang="en-US" dirty="0"/>
          </a:p>
          <a:p>
            <a:r>
              <a:rPr lang="ja-JP" altLang="en-US" dirty="0"/>
              <a:t>例えば、同じ意味でも以下のような違いがある。</a:t>
            </a:r>
          </a:p>
          <a:p>
            <a:endParaRPr lang="ja-JP" altLang="en-US" dirty="0"/>
          </a:p>
          <a:p>
            <a:r>
              <a:rPr lang="ja-JP" altLang="en-US" dirty="0"/>
              <a:t>・「同種工事」</a:t>
            </a:r>
          </a:p>
          <a:p>
            <a:r>
              <a:rPr lang="ja-JP" altLang="en-US" dirty="0"/>
              <a:t>・「同種業務」</a:t>
            </a:r>
          </a:p>
          <a:p>
            <a:r>
              <a:rPr lang="ja-JP" altLang="en-US" dirty="0"/>
              <a:t>・「類似工事」</a:t>
            </a:r>
          </a:p>
          <a:p>
            <a:r>
              <a:rPr lang="ja-JP" altLang="en-US" dirty="0"/>
              <a:t>・「施工実績」</a:t>
            </a:r>
          </a:p>
          <a:p>
            <a:r>
              <a:rPr lang="ja-JP" altLang="en-US" dirty="0"/>
              <a:t>・「業務実績」</a:t>
            </a:r>
          </a:p>
          <a:p>
            <a:endParaRPr lang="ja-JP" altLang="en-US" dirty="0"/>
          </a:p>
          <a:p>
            <a:r>
              <a:rPr lang="ja-JP" altLang="en-US" dirty="0"/>
              <a:t>このような違いがあると、あらかじめ設定したキーワードに一致しないため、抽出漏れが発生することがある。</a:t>
            </a:r>
          </a:p>
          <a:p>
            <a:endParaRPr lang="ja-JP" altLang="en-US" dirty="0"/>
          </a:p>
          <a:p>
            <a:r>
              <a:rPr lang="ja-JP" altLang="en-US" dirty="0"/>
              <a:t>そのため、本ツールでは、</a:t>
            </a:r>
            <a:r>
              <a:rPr lang="en-US" altLang="ja-JP" dirty="0"/>
              <a:t>DSL</a:t>
            </a:r>
            <a:r>
              <a:rPr lang="ja-JP" altLang="en-US" dirty="0"/>
              <a:t>ファイルのキーワードを変更することで、対象資料の表現に合わせて抽出条件を調整する。</a:t>
            </a:r>
          </a:p>
        </p:txBody>
      </p:sp>
    </p:spTree>
    <p:extLst>
      <p:ext uri="{BB962C8B-B14F-4D97-AF65-F5344CB8AC3E}">
        <p14:creationId xmlns:p14="http://schemas.microsoft.com/office/powerpoint/2010/main" val="310832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0D26-C057-5BE0-0499-B32126CD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4123A83-545B-14B1-C32A-2B95D99637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25BEF7-ADB4-26D3-E92A-C80CE61F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D2BFB8-33B6-7A1D-0E36-2335D66A37D8}"/>
              </a:ext>
            </a:extLst>
          </p:cNvPr>
          <p:cNvSpPr txBox="1"/>
          <p:nvPr/>
        </p:nvSpPr>
        <p:spPr>
          <a:xfrm>
            <a:off x="614190" y="1017326"/>
            <a:ext cx="109605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3. </a:t>
            </a:r>
            <a:r>
              <a:rPr lang="ja-JP" altLang="en-US" dirty="0"/>
              <a:t>処理の全体像</a:t>
            </a:r>
          </a:p>
          <a:p>
            <a:endParaRPr lang="ja-JP" altLang="en-US" dirty="0"/>
          </a:p>
          <a:p>
            <a:r>
              <a:rPr lang="ja-JP" altLang="en-US" dirty="0"/>
              <a:t>本ツールの処理の流れは以下のとおりである。</a:t>
            </a:r>
          </a:p>
          <a:p>
            <a:endParaRPr lang="ja-JP" altLang="en-US" dirty="0"/>
          </a:p>
          <a:p>
            <a:r>
              <a:rPr lang="ja-JP" altLang="en-US" dirty="0"/>
              <a:t>入札説明書</a:t>
            </a:r>
          </a:p>
          <a:p>
            <a:r>
              <a:rPr lang="ja-JP" altLang="en-US" dirty="0"/>
              <a:t>↓</a:t>
            </a:r>
          </a:p>
          <a:p>
            <a:r>
              <a:rPr lang="ja-JP" altLang="en-US" dirty="0"/>
              <a:t>テキスト抽出</a:t>
            </a:r>
          </a:p>
          <a:p>
            <a:r>
              <a:rPr lang="ja-JP" altLang="en-US" dirty="0"/>
              <a:t>↓</a:t>
            </a:r>
          </a:p>
          <a:p>
            <a:r>
              <a:rPr lang="ja-JP" altLang="en-US" dirty="0"/>
              <a:t>テキスト整形</a:t>
            </a:r>
          </a:p>
          <a:p>
            <a:r>
              <a:rPr lang="ja-JP" altLang="en-US" dirty="0"/>
              <a:t>↓</a:t>
            </a:r>
          </a:p>
          <a:p>
            <a:r>
              <a:rPr lang="en-US" altLang="ja-JP" dirty="0"/>
              <a:t>DSL</a:t>
            </a:r>
            <a:r>
              <a:rPr lang="ja-JP" altLang="en-US" dirty="0"/>
              <a:t>ルール適用</a:t>
            </a:r>
          </a:p>
          <a:p>
            <a:r>
              <a:rPr lang="ja-JP" altLang="en-US" dirty="0"/>
              <a:t>↓</a:t>
            </a:r>
          </a:p>
          <a:p>
            <a:r>
              <a:rPr lang="ja-JP" altLang="en-US" dirty="0"/>
              <a:t>抽出結果</a:t>
            </a:r>
            <a:r>
              <a:rPr lang="en-US" altLang="ja-JP" dirty="0"/>
              <a:t>CSV</a:t>
            </a:r>
            <a:r>
              <a:rPr lang="ja-JP" altLang="en-US" dirty="0"/>
              <a:t>出力</a:t>
            </a:r>
          </a:p>
          <a:p>
            <a:r>
              <a:rPr lang="ja-JP" altLang="en-US" dirty="0"/>
              <a:t>↓</a:t>
            </a:r>
          </a:p>
          <a:p>
            <a:r>
              <a:rPr lang="en-US" altLang="ja-JP" dirty="0"/>
              <a:t>Excel</a:t>
            </a:r>
            <a:r>
              <a:rPr lang="ja-JP" altLang="en-US" dirty="0"/>
              <a:t>一覧作成</a:t>
            </a:r>
          </a:p>
          <a:p>
            <a:endParaRPr lang="ja-JP" altLang="en-US" dirty="0"/>
          </a:p>
          <a:p>
            <a:r>
              <a:rPr lang="ja-JP" altLang="en-US" dirty="0"/>
              <a:t>このうち、利用者が通常修正するのは「</a:t>
            </a:r>
            <a:r>
              <a:rPr lang="en-US" altLang="ja-JP" dirty="0"/>
              <a:t>DSL</a:t>
            </a:r>
            <a:r>
              <a:rPr lang="ja-JP" altLang="en-US" dirty="0"/>
              <a:t>ルール適用」の部分である。</a:t>
            </a:r>
          </a:p>
          <a:p>
            <a:endParaRPr lang="ja-JP" altLang="en-US" dirty="0"/>
          </a:p>
          <a:p>
            <a:r>
              <a:rPr lang="ja-JP" altLang="en-US" dirty="0"/>
              <a:t>つまり、抽出結果が想定どおりでない場合は、まず</a:t>
            </a:r>
            <a:r>
              <a:rPr lang="en-US" altLang="ja-JP" dirty="0"/>
              <a:t>DSL</a:t>
            </a:r>
            <a:r>
              <a:rPr lang="ja-JP" altLang="en-US" dirty="0"/>
              <a:t>ファイルのキーワードを見直す。</a:t>
            </a:r>
          </a:p>
        </p:txBody>
      </p:sp>
    </p:spTree>
    <p:extLst>
      <p:ext uri="{BB962C8B-B14F-4D97-AF65-F5344CB8AC3E}">
        <p14:creationId xmlns:p14="http://schemas.microsoft.com/office/powerpoint/2010/main" val="139207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5159-2EDB-C27B-01F2-4877C636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419281C-45CD-36E5-D11F-465E189D4F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3A045C1-C935-86D5-BACF-08C5C42C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B7BCD3-FD54-67CA-48DC-243D775F5B94}"/>
              </a:ext>
            </a:extLst>
          </p:cNvPr>
          <p:cNvSpPr txBox="1"/>
          <p:nvPr/>
        </p:nvSpPr>
        <p:spPr>
          <a:xfrm>
            <a:off x="614190" y="1017326"/>
            <a:ext cx="109605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4. DSL</a:t>
            </a:r>
            <a:r>
              <a:rPr lang="ja-JP" altLang="en-US" dirty="0"/>
              <a:t>ファイルとは何か</a:t>
            </a:r>
          </a:p>
          <a:p>
            <a:endParaRPr lang="ja-JP" altLang="en-US" dirty="0"/>
          </a:p>
          <a:p>
            <a:r>
              <a:rPr lang="en-US" altLang="ja-JP" dirty="0"/>
              <a:t>DSL</a:t>
            </a:r>
            <a:r>
              <a:rPr lang="ja-JP" altLang="en-US" dirty="0"/>
              <a:t>ファイルとは、抽出ルールを記述する設定ファイルである。</a:t>
            </a:r>
          </a:p>
          <a:p>
            <a:endParaRPr lang="ja-JP" altLang="en-US" dirty="0"/>
          </a:p>
          <a:p>
            <a:r>
              <a:rPr lang="ja-JP" altLang="en-US" dirty="0"/>
              <a:t>地方整備局ごとにファイルが分かれており、例えば以下のようなファイル名となっている。</a:t>
            </a:r>
          </a:p>
          <a:p>
            <a:endParaRPr lang="ja-JP" altLang="en-US" dirty="0"/>
          </a:p>
          <a:p>
            <a:r>
              <a:rPr lang="ja-JP" altLang="en-US" dirty="0"/>
              <a:t>・</a:t>
            </a:r>
            <a:r>
              <a:rPr lang="en-US" altLang="ja-JP" dirty="0"/>
              <a:t>82_script.dsl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83_script.dsl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85_script.dsl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810_script.dsl</a:t>
            </a:r>
          </a:p>
          <a:p>
            <a:endParaRPr lang="en-US" altLang="ja-JP" dirty="0"/>
          </a:p>
          <a:p>
            <a:r>
              <a:rPr lang="ja-JP" altLang="en-US" dirty="0"/>
              <a:t>このファイルの中に、どの語句を手がかりに探すか、見つけた後に右側を見るのか左側を見るのか、抽出結果としてどの値を保存するか、といったルールが書かれている。</a:t>
            </a:r>
          </a:p>
          <a:p>
            <a:endParaRPr lang="ja-JP" altLang="en-US" dirty="0"/>
          </a:p>
          <a:p>
            <a:r>
              <a:rPr lang="ja-JP" altLang="en-US" dirty="0"/>
              <a:t>重要なのは、通常の運用では</a:t>
            </a:r>
            <a:r>
              <a:rPr lang="en-US" altLang="ja-JP" dirty="0"/>
              <a:t>Python</a:t>
            </a:r>
            <a:r>
              <a:rPr lang="ja-JP" altLang="en-US" dirty="0"/>
              <a:t>コードを変更しないことである。抽出条件の調整は</a:t>
            </a:r>
            <a:r>
              <a:rPr lang="en-US" altLang="ja-JP" dirty="0"/>
              <a:t>DSL</a:t>
            </a:r>
            <a:r>
              <a:rPr lang="ja-JP" altLang="en-US" dirty="0"/>
              <a:t>ファイルのみで対応する。</a:t>
            </a:r>
          </a:p>
        </p:txBody>
      </p:sp>
    </p:spTree>
    <p:extLst>
      <p:ext uri="{BB962C8B-B14F-4D97-AF65-F5344CB8AC3E}">
        <p14:creationId xmlns:p14="http://schemas.microsoft.com/office/powerpoint/2010/main" val="110765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9878-0DAE-D603-04FE-2B748BA3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B054783-7AAB-4854-23DF-C3783F5638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96679C-5746-091F-B9DE-3D413EE6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6CF85F-DB6B-DB35-5BAD-F1EE42B69B15}"/>
              </a:ext>
            </a:extLst>
          </p:cNvPr>
          <p:cNvSpPr txBox="1"/>
          <p:nvPr/>
        </p:nvSpPr>
        <p:spPr>
          <a:xfrm>
            <a:off x="614190" y="1017326"/>
            <a:ext cx="109605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5. DSL</a:t>
            </a:r>
            <a:r>
              <a:rPr lang="ja-JP" altLang="en-US" dirty="0"/>
              <a:t>でよく使う命令</a:t>
            </a:r>
          </a:p>
          <a:p>
            <a:r>
              <a:rPr lang="en-US" altLang="ja-JP" dirty="0"/>
              <a:t>### 5-1. search text</a:t>
            </a:r>
          </a:p>
          <a:p>
            <a:r>
              <a:rPr lang="ja-JP" altLang="en-US" dirty="0"/>
              <a:t>指定したキーワードを検索する命令である。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ja-JP" altLang="en-US" dirty="0"/>
              <a:t>この例では、「同種工事」という語句を探す。</a:t>
            </a:r>
          </a:p>
          <a:p>
            <a:r>
              <a:rPr lang="en-US" altLang="ja-JP" dirty="0"/>
              <a:t>### 5-2. search text </a:t>
            </a:r>
            <a:r>
              <a:rPr lang="ja-JP" altLang="en-US" dirty="0"/>
              <a:t>に複数キーワードを指定する</a:t>
            </a:r>
          </a:p>
          <a:p>
            <a:r>
              <a:rPr lang="ja-JP" altLang="en-US" dirty="0"/>
              <a:t>キーワードを複数指定したい場合は、配列形式で記述する。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"]</a:t>
            </a:r>
          </a:p>
          <a:p>
            <a:r>
              <a:rPr lang="ja-JP" altLang="en-US" dirty="0"/>
              <a:t>このように書くことで、表現の違いに対応しやすくなる。</a:t>
            </a:r>
          </a:p>
          <a:p>
            <a:r>
              <a:rPr lang="en-US" altLang="ja-JP" dirty="0"/>
              <a:t>### 5-3. take right</a:t>
            </a:r>
          </a:p>
          <a:p>
            <a:r>
              <a:rPr lang="ja-JP" altLang="en-US" dirty="0"/>
              <a:t>見つけたキーワードの右側の文章を対象にする命令である。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en-US" altLang="ja-JP" dirty="0"/>
              <a:t>take right</a:t>
            </a:r>
          </a:p>
          <a:p>
            <a:r>
              <a:rPr lang="ja-JP" altLang="en-US" dirty="0"/>
              <a:t>これは、「同種工事」という語句の右側に書かれた説明文を取りにいく動きになる。</a:t>
            </a:r>
          </a:p>
        </p:txBody>
      </p:sp>
    </p:spTree>
    <p:extLst>
      <p:ext uri="{BB962C8B-B14F-4D97-AF65-F5344CB8AC3E}">
        <p14:creationId xmlns:p14="http://schemas.microsoft.com/office/powerpoint/2010/main" val="305593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B86D-DF9A-BCA1-54A6-9694C47C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E259DBF-CEAD-6EA9-76AF-671069F442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5618A9-17EC-575F-3B6D-9D47EEA3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B2F47B-27B9-0015-1AB1-C59173586D40}"/>
              </a:ext>
            </a:extLst>
          </p:cNvPr>
          <p:cNvSpPr txBox="1"/>
          <p:nvPr/>
        </p:nvSpPr>
        <p:spPr>
          <a:xfrm>
            <a:off x="614190" y="1017326"/>
            <a:ext cx="109605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### 5-4. take left</a:t>
            </a:r>
          </a:p>
          <a:p>
            <a:r>
              <a:rPr lang="ja-JP" altLang="en-US" dirty="0"/>
              <a:t>見つけたキーワードの左側の文章を対象にする命令である。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評価基準</a:t>
            </a:r>
            <a:r>
              <a:rPr lang="en-US" altLang="ja-JP" dirty="0"/>
              <a:t>"</a:t>
            </a:r>
          </a:p>
          <a:p>
            <a:r>
              <a:rPr lang="en-US" altLang="ja-JP" dirty="0"/>
              <a:t>take left</a:t>
            </a:r>
          </a:p>
          <a:p>
            <a:r>
              <a:rPr lang="en-US" altLang="ja-JP" dirty="0"/>
              <a:t>### 5-5. store</a:t>
            </a:r>
          </a:p>
          <a:p>
            <a:r>
              <a:rPr lang="ja-JP" altLang="en-US" dirty="0"/>
              <a:t>途中で取得した文字列を一時的に保存する命令である。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store(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### 5-6. set</a:t>
            </a:r>
          </a:p>
          <a:p>
            <a:r>
              <a:rPr lang="ja-JP" altLang="en-US" dirty="0"/>
              <a:t>最終的な抽出結果として値を出力する命令である。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set(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384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1716-442F-A93E-4078-4FCCC3C8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CB478E9-0CF7-34AF-028C-C59C0920B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D3CEC1-A62D-297D-D9C0-E767F2C6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C9EA8F-36C7-ABDD-2D0E-A5FBC405F026}"/>
              </a:ext>
            </a:extLst>
          </p:cNvPr>
          <p:cNvSpPr txBox="1"/>
          <p:nvPr/>
        </p:nvSpPr>
        <p:spPr>
          <a:xfrm>
            <a:off x="614190" y="1017326"/>
            <a:ext cx="109605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6. </a:t>
            </a:r>
            <a:r>
              <a:rPr lang="ja-JP" altLang="en-US" dirty="0"/>
              <a:t>キーワード変更の基本方針</a:t>
            </a:r>
          </a:p>
          <a:p>
            <a:endParaRPr lang="ja-JP" altLang="en-US" dirty="0"/>
          </a:p>
          <a:p>
            <a:r>
              <a:rPr lang="ja-JP" altLang="en-US" dirty="0"/>
              <a:t>キーワードを変更するときは、次の順序で考える。</a:t>
            </a:r>
          </a:p>
          <a:p>
            <a:endParaRPr lang="ja-JP" altLang="en-US" dirty="0"/>
          </a:p>
          <a:p>
            <a:r>
              <a:rPr lang="en-US" altLang="ja-JP" dirty="0"/>
              <a:t>1. </a:t>
            </a:r>
            <a:r>
              <a:rPr lang="ja-JP" altLang="en-US" dirty="0"/>
              <a:t>抽出したい項目が、元資料ではどの表現で書かれているか確認する</a:t>
            </a:r>
          </a:p>
          <a:p>
            <a:r>
              <a:rPr lang="en-US" altLang="ja-JP" dirty="0"/>
              <a:t>2. </a:t>
            </a:r>
            <a:r>
              <a:rPr lang="ja-JP" altLang="en-US" dirty="0"/>
              <a:t>既存</a:t>
            </a:r>
            <a:r>
              <a:rPr lang="en-US" altLang="ja-JP" dirty="0"/>
              <a:t>DSL</a:t>
            </a:r>
            <a:r>
              <a:rPr lang="ja-JP" altLang="en-US" dirty="0"/>
              <a:t>で、その表現を拾える設定になっているか確認する</a:t>
            </a:r>
          </a:p>
          <a:p>
            <a:r>
              <a:rPr lang="en-US" altLang="ja-JP" dirty="0"/>
              <a:t>3. </a:t>
            </a:r>
            <a:r>
              <a:rPr lang="ja-JP" altLang="en-US" dirty="0"/>
              <a:t>拾えていない場合は、既存キーワードを置き換えるのではなく、まずは追加を検討する</a:t>
            </a:r>
          </a:p>
          <a:p>
            <a:r>
              <a:rPr lang="en-US" altLang="ja-JP" dirty="0"/>
              <a:t>4. </a:t>
            </a:r>
            <a:r>
              <a:rPr lang="ja-JP" altLang="en-US" dirty="0"/>
              <a:t>追加後に再実行し、抽出結果を確認する</a:t>
            </a:r>
          </a:p>
          <a:p>
            <a:r>
              <a:rPr lang="en-US" altLang="ja-JP" dirty="0"/>
              <a:t>5. </a:t>
            </a:r>
            <a:r>
              <a:rPr lang="ja-JP" altLang="en-US" dirty="0"/>
              <a:t>不要な拾い方が増えた場合のみ、絞り込みや置換を検討する</a:t>
            </a:r>
          </a:p>
          <a:p>
            <a:endParaRPr lang="ja-JP" altLang="en-US" dirty="0"/>
          </a:p>
          <a:p>
            <a:r>
              <a:rPr lang="ja-JP" altLang="en-US" dirty="0"/>
              <a:t>運用上は、いきなり大きく書き換えるのではなく、少しずつ追加して確認するほうが安全である。</a:t>
            </a:r>
          </a:p>
        </p:txBody>
      </p:sp>
    </p:spTree>
    <p:extLst>
      <p:ext uri="{BB962C8B-B14F-4D97-AF65-F5344CB8AC3E}">
        <p14:creationId xmlns:p14="http://schemas.microsoft.com/office/powerpoint/2010/main" val="3231843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F4BE-7E3B-98E4-BF59-6001837E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81E29C6-9F4D-E0D4-B3E6-77146296E1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28CD35-77A1-1B8D-4E56-C6392D3E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941C53-F89F-C1B5-0568-5823E2953A60}"/>
              </a:ext>
            </a:extLst>
          </p:cNvPr>
          <p:cNvSpPr txBox="1"/>
          <p:nvPr/>
        </p:nvSpPr>
        <p:spPr>
          <a:xfrm>
            <a:off x="614190" y="1017326"/>
            <a:ext cx="109605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7. </a:t>
            </a:r>
            <a:r>
              <a:rPr lang="ja-JP" altLang="en-US" dirty="0"/>
              <a:t>キーワード変更の代表例</a:t>
            </a:r>
          </a:p>
          <a:p>
            <a:r>
              <a:rPr lang="en-US" altLang="ja-JP" dirty="0"/>
              <a:t>### 7-1. </a:t>
            </a:r>
            <a:r>
              <a:rPr lang="ja-JP" altLang="en-US" dirty="0"/>
              <a:t>単一キーワードを複数キーワードに変更する例</a:t>
            </a:r>
          </a:p>
          <a:p>
            <a:r>
              <a:rPr lang="ja-JP" altLang="en-US" dirty="0"/>
              <a:t>変更前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ja-JP" altLang="en-US" dirty="0"/>
              <a:t>変更後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"]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「同種工事」と書かれている資料だけでなく、「同種業務」と書かれている資料にも対応できる。</a:t>
            </a:r>
          </a:p>
          <a:p>
            <a:r>
              <a:rPr lang="ja-JP" altLang="en-US" dirty="0"/>
              <a:t>使う場面</a:t>
            </a:r>
          </a:p>
          <a:p>
            <a:r>
              <a:rPr lang="ja-JP" altLang="en-US" dirty="0"/>
              <a:t>・地方整備局によって表現が異なる場合</a:t>
            </a:r>
          </a:p>
          <a:p>
            <a:r>
              <a:rPr lang="ja-JP" altLang="en-US" dirty="0"/>
              <a:t>・同じ種類の条件なのに、資料ごとに言い方が違う場合</a:t>
            </a:r>
          </a:p>
          <a:p>
            <a:r>
              <a:rPr lang="en-US" altLang="ja-JP" dirty="0"/>
              <a:t>### 7-2. </a:t>
            </a:r>
            <a:r>
              <a:rPr lang="ja-JP" altLang="en-US" dirty="0"/>
              <a:t>キーワードを追加する例</a:t>
            </a:r>
          </a:p>
          <a:p>
            <a:r>
              <a:rPr lang="ja-JP" altLang="en-US" dirty="0"/>
              <a:t>変更前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施工実績</a:t>
            </a:r>
            <a:r>
              <a:rPr lang="en-US" altLang="ja-JP" dirty="0"/>
              <a:t>"]</a:t>
            </a:r>
          </a:p>
          <a:p>
            <a:r>
              <a:rPr lang="ja-JP" altLang="en-US" dirty="0"/>
              <a:t>変更後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施工実績</a:t>
            </a:r>
            <a:r>
              <a:rPr lang="en-US" altLang="ja-JP" dirty="0"/>
              <a:t>","</a:t>
            </a:r>
            <a:r>
              <a:rPr lang="ja-JP" altLang="en-US" dirty="0"/>
              <a:t>業務実績</a:t>
            </a:r>
            <a:r>
              <a:rPr lang="en-US" altLang="ja-JP" dirty="0"/>
              <a:t>","</a:t>
            </a:r>
            <a:r>
              <a:rPr lang="ja-JP" altLang="en-US" dirty="0"/>
              <a:t>実績</a:t>
            </a:r>
            <a:r>
              <a:rPr lang="en-US" altLang="ja-JP" dirty="0"/>
              <a:t>"]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「施工実績」という語句がない資料でも、「業務実績」や「実績」と記載されていれば対象にできる可能性が広がる。</a:t>
            </a:r>
          </a:p>
          <a:p>
            <a:r>
              <a:rPr lang="ja-JP" altLang="en-US" dirty="0"/>
              <a:t>の箇所も拾いやすくなる。そのため、抽出結果の確認が必要である。</a:t>
            </a:r>
          </a:p>
        </p:txBody>
      </p:sp>
    </p:spTree>
    <p:extLst>
      <p:ext uri="{BB962C8B-B14F-4D97-AF65-F5344CB8AC3E}">
        <p14:creationId xmlns:p14="http://schemas.microsoft.com/office/powerpoint/2010/main" val="752138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0E5C-1BA6-FFD5-20AA-9328F1FE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426031-8352-9AD4-457A-02772EAFFF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FE9133-8BD7-4512-3864-8571D8B0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31B6C2-FEDF-7777-A3FE-B9DC9A87202C}"/>
              </a:ext>
            </a:extLst>
          </p:cNvPr>
          <p:cNvSpPr txBox="1"/>
          <p:nvPr/>
        </p:nvSpPr>
        <p:spPr>
          <a:xfrm>
            <a:off x="614190" y="1017326"/>
            <a:ext cx="1096058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注意点</a:t>
            </a:r>
          </a:p>
          <a:p>
            <a:r>
              <a:rPr lang="ja-JP" altLang="en-US" dirty="0"/>
              <a:t>「実績」のように短すぎる語は、関係ない箇所にも出やすい。追加後は必ず抽出結果を確認する。</a:t>
            </a:r>
          </a:p>
          <a:p>
            <a:r>
              <a:rPr lang="en-US" altLang="ja-JP" dirty="0"/>
              <a:t>### 7-3. </a:t>
            </a:r>
            <a:r>
              <a:rPr lang="ja-JP" altLang="en-US" dirty="0"/>
              <a:t>キーワードを変更する例</a:t>
            </a:r>
          </a:p>
          <a:p>
            <a:r>
              <a:rPr lang="ja-JP" altLang="en-US" dirty="0"/>
              <a:t>変更前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類似工事</a:t>
            </a:r>
            <a:r>
              <a:rPr lang="en-US" altLang="ja-JP" dirty="0"/>
              <a:t>"</a:t>
            </a:r>
          </a:p>
          <a:p>
            <a:r>
              <a:rPr lang="ja-JP" altLang="en-US" dirty="0"/>
              <a:t>変更後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同種・類似工事</a:t>
            </a:r>
            <a:r>
              <a:rPr lang="en-US" altLang="ja-JP" dirty="0"/>
              <a:t>"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元資料に実際に書かれている見出しに合わせる変更である。</a:t>
            </a:r>
          </a:p>
          <a:p>
            <a:r>
              <a:rPr lang="ja-JP" altLang="en-US" dirty="0"/>
              <a:t>使う場面</a:t>
            </a:r>
          </a:p>
          <a:p>
            <a:r>
              <a:rPr lang="ja-JP" altLang="en-US" dirty="0"/>
              <a:t>・既存のキーワードが、元資料の見出しと微妙にずれている場合</a:t>
            </a:r>
          </a:p>
          <a:p>
            <a:r>
              <a:rPr lang="ja-JP" altLang="en-US" dirty="0"/>
              <a:t>・検索が当たらない原因が、語句の不足や差異にある場合</a:t>
            </a:r>
          </a:p>
          <a:p>
            <a:r>
              <a:rPr lang="en-US" altLang="ja-JP" dirty="0"/>
              <a:t>### 7-4. </a:t>
            </a:r>
            <a:r>
              <a:rPr lang="ja-JP" altLang="en-US" dirty="0"/>
              <a:t>複数の候補を広めに持つ例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","</a:t>
            </a:r>
            <a:r>
              <a:rPr lang="ja-JP" altLang="en-US" dirty="0"/>
              <a:t>類似工事</a:t>
            </a:r>
            <a:r>
              <a:rPr lang="en-US" altLang="ja-JP" dirty="0"/>
              <a:t>","</a:t>
            </a:r>
            <a:r>
              <a:rPr lang="ja-JP" altLang="en-US" dirty="0"/>
              <a:t>類似業務</a:t>
            </a:r>
            <a:r>
              <a:rPr lang="en-US" altLang="ja-JP" dirty="0"/>
              <a:t>"]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工事と業務、同種と類似の両方の表現差に対応する設定である。</a:t>
            </a:r>
          </a:p>
          <a:p>
            <a:r>
              <a:rPr lang="ja-JP" altLang="en-US" dirty="0"/>
              <a:t>使う場面</a:t>
            </a:r>
          </a:p>
          <a:p>
            <a:r>
              <a:rPr lang="ja-JP" altLang="en-US" dirty="0"/>
              <a:t>・対象資料の表現が統一されていない場合</a:t>
            </a:r>
          </a:p>
          <a:p>
            <a:r>
              <a:rPr lang="ja-JP" altLang="en-US" dirty="0"/>
              <a:t>・まず漏れを減らしたい場合</a:t>
            </a:r>
          </a:p>
          <a:p>
            <a:r>
              <a:rPr lang="ja-JP" altLang="en-US" dirty="0"/>
              <a:t>注意点</a:t>
            </a:r>
          </a:p>
          <a:p>
            <a:r>
              <a:rPr lang="ja-JP" altLang="en-US" dirty="0"/>
              <a:t>広く拾える一方で、対象外の箇所も拾いやすくなる。そのため、抽出結果の確認が必要である。</a:t>
            </a:r>
          </a:p>
        </p:txBody>
      </p:sp>
    </p:spTree>
    <p:extLst>
      <p:ext uri="{BB962C8B-B14F-4D97-AF65-F5344CB8AC3E}">
        <p14:creationId xmlns:p14="http://schemas.microsoft.com/office/powerpoint/2010/main" val="300989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DF5C-877C-B731-AF30-DBCFE332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83C674B-28AE-49DA-F430-094691E975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95CFE2-BBAB-20BC-A393-8E1CDB620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0397F6-6E36-F297-A35B-E7D70D8FD36C}"/>
              </a:ext>
            </a:extLst>
          </p:cNvPr>
          <p:cNvSpPr txBox="1"/>
          <p:nvPr/>
        </p:nvSpPr>
        <p:spPr>
          <a:xfrm>
            <a:off x="614190" y="1017326"/>
            <a:ext cx="109605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8. </a:t>
            </a:r>
            <a:r>
              <a:rPr lang="ja-JP" altLang="en-US" dirty="0"/>
              <a:t>キーワード変更の具体的な作業手順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1 </a:t>
            </a:r>
            <a:r>
              <a:rPr lang="ja-JP" altLang="en-US" dirty="0"/>
              <a:t>対象の</a:t>
            </a:r>
            <a:r>
              <a:rPr lang="en-US" altLang="ja-JP" dirty="0"/>
              <a:t>DSL</a:t>
            </a:r>
            <a:r>
              <a:rPr lang="ja-JP" altLang="en-US" dirty="0"/>
              <a:t>ファイルを特定する</a:t>
            </a:r>
          </a:p>
          <a:p>
            <a:r>
              <a:rPr lang="ja-JP" altLang="en-US" dirty="0"/>
              <a:t>まず、対象資料がどの地方整備局のものかを確認し、対応する</a:t>
            </a:r>
            <a:r>
              <a:rPr lang="en-US" altLang="ja-JP" dirty="0"/>
              <a:t>DSL</a:t>
            </a:r>
            <a:r>
              <a:rPr lang="ja-JP" altLang="en-US" dirty="0"/>
              <a:t>ファイルを開く。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・関東地方整備局なら </a:t>
            </a:r>
            <a:r>
              <a:rPr lang="en-US" altLang="ja-JP" dirty="0"/>
              <a:t>83_script.dsl</a:t>
            </a:r>
          </a:p>
          <a:p>
            <a:r>
              <a:rPr lang="ja-JP" altLang="en-US" dirty="0"/>
              <a:t>・近畿地方整備局なら </a:t>
            </a:r>
            <a:r>
              <a:rPr lang="en-US" altLang="ja-JP" dirty="0"/>
              <a:t>86_script.dsl</a:t>
            </a:r>
          </a:p>
          <a:p>
            <a:r>
              <a:rPr lang="ja-JP" altLang="en-US" dirty="0"/>
              <a:t>・北海道開発局の対象なら </a:t>
            </a:r>
            <a:r>
              <a:rPr lang="en-US" altLang="ja-JP" dirty="0"/>
              <a:t>810_script.dsl </a:t>
            </a:r>
            <a:r>
              <a:rPr lang="ja-JP" altLang="en-US" dirty="0"/>
              <a:t>など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2 </a:t>
            </a:r>
            <a:r>
              <a:rPr lang="ja-JP" altLang="en-US" dirty="0"/>
              <a:t>修正対象の </a:t>
            </a:r>
            <a:r>
              <a:rPr lang="en-US" altLang="ja-JP" dirty="0"/>
              <a:t>search text </a:t>
            </a:r>
            <a:r>
              <a:rPr lang="ja-JP" altLang="en-US" dirty="0"/>
              <a:t>を探す</a:t>
            </a:r>
          </a:p>
          <a:p>
            <a:r>
              <a:rPr lang="en-US" altLang="ja-JP" dirty="0"/>
              <a:t>DSL</a:t>
            </a:r>
            <a:r>
              <a:rPr lang="ja-JP" altLang="en-US" dirty="0"/>
              <a:t>ファイルの中から、修正したい項目に対応する </a:t>
            </a:r>
            <a:r>
              <a:rPr lang="en-US" altLang="ja-JP" dirty="0"/>
              <a:t>search text </a:t>
            </a:r>
            <a:r>
              <a:rPr lang="ja-JP" altLang="en-US" dirty="0"/>
              <a:t>を探す。</a:t>
            </a:r>
          </a:p>
          <a:p>
            <a:r>
              <a:rPr lang="ja-JP" altLang="en-US" dirty="0"/>
              <a:t>例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3 </a:t>
            </a:r>
            <a:r>
              <a:rPr lang="ja-JP" altLang="en-US" dirty="0"/>
              <a:t>元資料の表現を確認する</a:t>
            </a:r>
          </a:p>
          <a:p>
            <a:r>
              <a:rPr lang="ja-JP" altLang="en-US" dirty="0"/>
              <a:t>実際の入札説明書を見て、どの表現で書かれているか確認する。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・同種工事</a:t>
            </a:r>
          </a:p>
          <a:p>
            <a:r>
              <a:rPr lang="ja-JP" altLang="en-US" dirty="0"/>
              <a:t>・同種業務</a:t>
            </a:r>
          </a:p>
          <a:p>
            <a:r>
              <a:rPr lang="ja-JP" altLang="en-US" dirty="0"/>
              <a:t>・同種又は類似工事</a:t>
            </a:r>
          </a:p>
          <a:p>
            <a:r>
              <a:rPr lang="ja-JP" altLang="en-US" dirty="0"/>
              <a:t>・施工実績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4 </a:t>
            </a:r>
            <a:r>
              <a:rPr lang="ja-JP" altLang="en-US" dirty="0"/>
              <a:t>キーワードを追加または変更する</a:t>
            </a:r>
          </a:p>
          <a:p>
            <a:r>
              <a:rPr lang="ja-JP" altLang="en-US" dirty="0"/>
              <a:t>安全な進め方は、まず追加である。</a:t>
            </a:r>
          </a:p>
        </p:txBody>
      </p:sp>
    </p:spTree>
    <p:extLst>
      <p:ext uri="{BB962C8B-B14F-4D97-AF65-F5344CB8AC3E}">
        <p14:creationId xmlns:p14="http://schemas.microsoft.com/office/powerpoint/2010/main" val="90708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2854-4202-A1AD-BEF7-133533D5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72700C9-2567-F119-529C-3DFA33898A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43BC3F-38B0-F770-B39A-F220FBD6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601081-C3DE-1C7F-BADB-0D8EED0B76D0}"/>
              </a:ext>
            </a:extLst>
          </p:cNvPr>
          <p:cNvSpPr txBox="1"/>
          <p:nvPr/>
        </p:nvSpPr>
        <p:spPr>
          <a:xfrm>
            <a:off x="614190" y="1017326"/>
            <a:ext cx="109605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例</a:t>
            </a:r>
          </a:p>
          <a:p>
            <a:r>
              <a:rPr lang="ja-JP" altLang="en-US" dirty="0"/>
              <a:t>変更前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ja-JP" altLang="en-US" dirty="0"/>
              <a:t>変更後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"]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5 </a:t>
            </a:r>
            <a:r>
              <a:rPr lang="ja-JP" altLang="en-US" dirty="0"/>
              <a:t>保存する</a:t>
            </a:r>
          </a:p>
          <a:p>
            <a:r>
              <a:rPr lang="en-US" altLang="ja-JP" dirty="0"/>
              <a:t>DSL</a:t>
            </a:r>
            <a:r>
              <a:rPr lang="ja-JP" altLang="en-US" dirty="0"/>
              <a:t>ファイルを保存する。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6 </a:t>
            </a:r>
            <a:r>
              <a:rPr lang="ja-JP" altLang="en-US" dirty="0"/>
              <a:t>ツールを再実行する</a:t>
            </a:r>
          </a:p>
          <a:p>
            <a:r>
              <a:rPr lang="ja-JP" altLang="en-US" dirty="0"/>
              <a:t>再実行後、</a:t>
            </a:r>
            <a:r>
              <a:rPr lang="en-US" altLang="ja-JP" dirty="0"/>
              <a:t>CSV</a:t>
            </a:r>
            <a:r>
              <a:rPr lang="ja-JP" altLang="en-US" dirty="0"/>
              <a:t>や</a:t>
            </a:r>
            <a:r>
              <a:rPr lang="en-US" altLang="ja-JP" dirty="0"/>
              <a:t>Excel</a:t>
            </a:r>
            <a:r>
              <a:rPr lang="ja-JP" altLang="en-US" dirty="0"/>
              <a:t>の出力結果を確認する。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手順</a:t>
            </a:r>
            <a:r>
              <a:rPr lang="en-US" altLang="ja-JP" dirty="0"/>
              <a:t>7 </a:t>
            </a:r>
            <a:r>
              <a:rPr lang="ja-JP" altLang="en-US" dirty="0"/>
              <a:t>抽出結果を確認する</a:t>
            </a:r>
          </a:p>
          <a:p>
            <a:r>
              <a:rPr lang="ja-JP" altLang="en-US" dirty="0"/>
              <a:t>・狙った箇所が取れているか</a:t>
            </a:r>
          </a:p>
          <a:p>
            <a:r>
              <a:rPr lang="ja-JP" altLang="en-US" dirty="0"/>
              <a:t>・違う箇所を誤って取っていないか</a:t>
            </a:r>
          </a:p>
          <a:p>
            <a:r>
              <a:rPr lang="ja-JP" altLang="en-US" dirty="0"/>
              <a:t>・空欄のままになっていないか</a:t>
            </a:r>
          </a:p>
        </p:txBody>
      </p:sp>
    </p:spTree>
    <p:extLst>
      <p:ext uri="{BB962C8B-B14F-4D97-AF65-F5344CB8AC3E}">
        <p14:creationId xmlns:p14="http://schemas.microsoft.com/office/powerpoint/2010/main" val="187977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7628-B794-4EA6-E8CF-6E7303B8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C5845D8-5DDE-559B-268C-7A3D7501AA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BCB432-40FE-A285-2667-6B7FF3F7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08023A-24B3-AA4F-D427-68F6AECF440A}"/>
              </a:ext>
            </a:extLst>
          </p:cNvPr>
          <p:cNvSpPr txBox="1"/>
          <p:nvPr/>
        </p:nvSpPr>
        <p:spPr>
          <a:xfrm>
            <a:off x="614190" y="1017326"/>
            <a:ext cx="1096058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9. DSL</a:t>
            </a:r>
            <a:r>
              <a:rPr lang="ja-JP" altLang="en-US" dirty="0"/>
              <a:t>編集例（基本）</a:t>
            </a:r>
          </a:p>
          <a:p>
            <a:r>
              <a:rPr lang="ja-JP" altLang="en-US" dirty="0"/>
              <a:t>例</a:t>
            </a:r>
            <a:r>
              <a:rPr lang="en-US" altLang="ja-JP" dirty="0"/>
              <a:t>1 </a:t>
            </a:r>
            <a:r>
              <a:rPr lang="ja-JP" altLang="en-US" dirty="0"/>
              <a:t>単一キーワードで検索する場合</a:t>
            </a:r>
          </a:p>
          <a:p>
            <a:r>
              <a:rPr lang="en-US" altLang="ja-JP" dirty="0"/>
              <a:t>search text : "</a:t>
            </a:r>
            <a:r>
              <a:rPr lang="ja-JP" altLang="en-US" dirty="0"/>
              <a:t>同種工事</a:t>
            </a:r>
            <a:r>
              <a:rPr lang="en-US" altLang="ja-JP" dirty="0"/>
              <a:t>"</a:t>
            </a:r>
          </a:p>
          <a:p>
            <a:r>
              <a:rPr lang="en-US" altLang="ja-JP" dirty="0"/>
              <a:t>take right</a:t>
            </a:r>
          </a:p>
          <a:p>
            <a:r>
              <a:rPr lang="en-US" altLang="ja-JP" dirty="0"/>
              <a:t>store(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set(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「同種工事」を見つけたら、その右側を取得し、一時保存したうえで抽出結果として出力する。</a:t>
            </a:r>
          </a:p>
          <a:p>
            <a:r>
              <a:rPr lang="ja-JP" altLang="en-US" dirty="0"/>
              <a:t>例</a:t>
            </a:r>
            <a:r>
              <a:rPr lang="en-US" altLang="ja-JP" dirty="0"/>
              <a:t>2 </a:t>
            </a:r>
            <a:r>
              <a:rPr lang="ja-JP" altLang="en-US" dirty="0"/>
              <a:t>複数キーワードに対応する場合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"]</a:t>
            </a:r>
          </a:p>
          <a:p>
            <a:r>
              <a:rPr lang="en-US" altLang="ja-JP" dirty="0"/>
              <a:t>take right</a:t>
            </a:r>
          </a:p>
          <a:p>
            <a:r>
              <a:rPr lang="en-US" altLang="ja-JP" dirty="0"/>
              <a:t>store(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set(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意味</a:t>
            </a:r>
          </a:p>
          <a:p>
            <a:r>
              <a:rPr lang="ja-JP" altLang="en-US" dirty="0"/>
              <a:t>「同種工事」または「同種業務」のどちらかを見つけたら、その右側を取得する。</a:t>
            </a:r>
          </a:p>
        </p:txBody>
      </p:sp>
    </p:spTree>
    <p:extLst>
      <p:ext uri="{BB962C8B-B14F-4D97-AF65-F5344CB8AC3E}">
        <p14:creationId xmlns:p14="http://schemas.microsoft.com/office/powerpoint/2010/main" val="57808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EAAA-76AD-18E4-32B4-89ECF346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0E4227F-DA31-687E-6489-4A71DC11C2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21462E-034B-CACE-115E-11881F9C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24B389-0B71-9170-689D-6BE195D8F2B3}"/>
              </a:ext>
            </a:extLst>
          </p:cNvPr>
          <p:cNvSpPr txBox="1"/>
          <p:nvPr/>
        </p:nvSpPr>
        <p:spPr>
          <a:xfrm>
            <a:off x="614190" y="1017326"/>
            <a:ext cx="109605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例</a:t>
            </a:r>
            <a:r>
              <a:rPr lang="en-US" altLang="ja-JP" dirty="0"/>
              <a:t>3 </a:t>
            </a:r>
            <a:r>
              <a:rPr lang="ja-JP" altLang="en-US" dirty="0"/>
              <a:t>追加調整を行う場合</a:t>
            </a:r>
          </a:p>
          <a:p>
            <a:r>
              <a:rPr lang="en-US" altLang="ja-JP" dirty="0"/>
              <a:t>search text : ["</a:t>
            </a:r>
            <a:r>
              <a:rPr lang="ja-JP" altLang="en-US" dirty="0"/>
              <a:t>同種工事</a:t>
            </a:r>
            <a:r>
              <a:rPr lang="en-US" altLang="ja-JP" dirty="0"/>
              <a:t>","</a:t>
            </a:r>
            <a:r>
              <a:rPr lang="ja-JP" altLang="en-US" dirty="0"/>
              <a:t>同種業務</a:t>
            </a:r>
            <a:r>
              <a:rPr lang="en-US" altLang="ja-JP" dirty="0"/>
              <a:t>"]</a:t>
            </a:r>
          </a:p>
          <a:p>
            <a:r>
              <a:rPr lang="en-US" altLang="ja-JP" dirty="0"/>
              <a:t>take right</a:t>
            </a:r>
          </a:p>
          <a:p>
            <a:r>
              <a:rPr lang="en-US" altLang="ja-JP" dirty="0"/>
              <a:t>remove whitespaces</a:t>
            </a:r>
          </a:p>
          <a:p>
            <a:r>
              <a:rPr lang="en-US" altLang="ja-JP" dirty="0"/>
              <a:t>store(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set(</a:t>
            </a:r>
            <a:r>
              <a:rPr lang="en-US" altLang="ja-JP" dirty="0" err="1"/>
              <a:t>tmp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意味</a:t>
            </a:r>
          </a:p>
          <a:p>
            <a:endParaRPr lang="ja-JP" altLang="en-US" dirty="0"/>
          </a:p>
          <a:p>
            <a:r>
              <a:rPr lang="ja-JP" altLang="en-US" dirty="0"/>
              <a:t>検索後に余分な空白を除去してから結果を保存する。</a:t>
            </a:r>
          </a:p>
        </p:txBody>
      </p:sp>
    </p:spTree>
    <p:extLst>
      <p:ext uri="{BB962C8B-B14F-4D97-AF65-F5344CB8AC3E}">
        <p14:creationId xmlns:p14="http://schemas.microsoft.com/office/powerpoint/2010/main" val="302522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879F5-8A92-FBB3-05C5-CD509D1C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CE8DE0-0775-2007-8AB4-9D3EFCECAE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1C8BCD-55E5-6E64-F541-52F93FC1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707FD4-3351-1DFC-003B-29D844121E02}"/>
              </a:ext>
            </a:extLst>
          </p:cNvPr>
          <p:cNvSpPr txBox="1"/>
          <p:nvPr/>
        </p:nvSpPr>
        <p:spPr>
          <a:xfrm>
            <a:off x="614190" y="1017326"/>
            <a:ext cx="1096058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10. </a:t>
            </a:r>
            <a:r>
              <a:rPr lang="ja-JP" altLang="en-US" dirty="0"/>
              <a:t>キーワード追加時に考えるべきこと</a:t>
            </a:r>
          </a:p>
          <a:p>
            <a:r>
              <a:rPr lang="en-US" altLang="ja-JP" dirty="0"/>
              <a:t>### 10-1. </a:t>
            </a:r>
            <a:r>
              <a:rPr lang="ja-JP" altLang="en-US" dirty="0"/>
              <a:t>表記ゆれ</a:t>
            </a:r>
          </a:p>
          <a:p>
            <a:r>
              <a:rPr lang="ja-JP" altLang="en-US" dirty="0"/>
              <a:t>同じ意味でも、資料によって表記が異なる。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・同種工事</a:t>
            </a:r>
          </a:p>
          <a:p>
            <a:r>
              <a:rPr lang="ja-JP" altLang="en-US" dirty="0"/>
              <a:t>・同種業務</a:t>
            </a:r>
          </a:p>
          <a:p>
            <a:r>
              <a:rPr lang="ja-JP" altLang="en-US" dirty="0"/>
              <a:t>・同種又は類似工事</a:t>
            </a:r>
          </a:p>
          <a:p>
            <a:r>
              <a:rPr lang="en-US" altLang="ja-JP" dirty="0"/>
              <a:t>### 10-2. </a:t>
            </a:r>
            <a:r>
              <a:rPr lang="ja-JP" altLang="en-US" dirty="0"/>
              <a:t>全角と半角</a:t>
            </a:r>
          </a:p>
          <a:p>
            <a:r>
              <a:rPr lang="ja-JP" altLang="en-US" dirty="0"/>
              <a:t>見た目は似ていても、文字の種類が異なる場合がある。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(1)</a:t>
            </a:r>
          </a:p>
          <a:p>
            <a:r>
              <a:rPr lang="ja-JP" altLang="en-US" dirty="0"/>
              <a:t>・（</a:t>
            </a:r>
            <a:r>
              <a:rPr lang="en-US" altLang="ja-JP" dirty="0"/>
              <a:t>1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・①</a:t>
            </a:r>
          </a:p>
          <a:p>
            <a:r>
              <a:rPr lang="en-US" altLang="ja-JP" dirty="0"/>
              <a:t>### 10-3. </a:t>
            </a:r>
            <a:r>
              <a:rPr lang="ja-JP" altLang="en-US" dirty="0"/>
              <a:t>改行の有無</a:t>
            </a:r>
          </a:p>
          <a:p>
            <a:r>
              <a:rPr lang="en-US" altLang="ja-JP" dirty="0"/>
              <a:t>PDF</a:t>
            </a:r>
            <a:r>
              <a:rPr lang="ja-JP" altLang="en-US" dirty="0"/>
              <a:t>では、見出し語の後ろで改行されていることがある。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同種工事：○○に関する施工実績</a:t>
            </a:r>
          </a:p>
          <a:p>
            <a:r>
              <a:rPr lang="ja-JP" altLang="en-US" dirty="0"/>
              <a:t>だけでなく</a:t>
            </a:r>
          </a:p>
          <a:p>
            <a:r>
              <a:rPr lang="ja-JP" altLang="en-US" dirty="0"/>
              <a:t>同種工事</a:t>
            </a:r>
          </a:p>
          <a:p>
            <a:r>
              <a:rPr lang="ja-JP" altLang="en-US" dirty="0"/>
              <a:t>○○に関する施工実績</a:t>
            </a:r>
          </a:p>
          <a:p>
            <a:r>
              <a:rPr lang="ja-JP" altLang="en-US" dirty="0"/>
              <a:t>のような形もある。</a:t>
            </a:r>
          </a:p>
        </p:txBody>
      </p:sp>
    </p:spTree>
    <p:extLst>
      <p:ext uri="{BB962C8B-B14F-4D97-AF65-F5344CB8AC3E}">
        <p14:creationId xmlns:p14="http://schemas.microsoft.com/office/powerpoint/2010/main" val="303000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F113-8327-C6BF-7133-19444876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756147F-B076-3E01-EF1A-01DB3E0F5E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D18B27-F2FF-5137-1532-F458E29C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2C448A-C312-24D2-F34D-624FBF88D9C2}"/>
              </a:ext>
            </a:extLst>
          </p:cNvPr>
          <p:cNvSpPr txBox="1"/>
          <p:nvPr/>
        </p:nvSpPr>
        <p:spPr>
          <a:xfrm>
            <a:off x="614190" y="1017326"/>
            <a:ext cx="109605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### 10-4. </a:t>
            </a:r>
            <a:r>
              <a:rPr lang="ja-JP" altLang="en-US" dirty="0"/>
              <a:t>短すぎるキーワード</a:t>
            </a:r>
          </a:p>
          <a:p>
            <a:endParaRPr lang="ja-JP" altLang="en-US" dirty="0"/>
          </a:p>
          <a:p>
            <a:r>
              <a:rPr lang="ja-JP" altLang="en-US" dirty="0"/>
              <a:t>短い語は広く当たりすぎる。</a:t>
            </a:r>
          </a:p>
          <a:p>
            <a:endParaRPr lang="ja-JP" altLang="en-US" dirty="0"/>
          </a:p>
          <a:p>
            <a:r>
              <a:rPr lang="ja-JP" altLang="en-US" dirty="0"/>
              <a:t>例</a:t>
            </a:r>
          </a:p>
          <a:p>
            <a:endParaRPr lang="ja-JP" altLang="en-US" dirty="0"/>
          </a:p>
          <a:p>
            <a:r>
              <a:rPr lang="ja-JP" altLang="en-US" dirty="0"/>
              <a:t>「実績」だけを検索対象にすると、予定管理技術者の実績、企業実績、工事実績など、複数の箇所に当たる可能性がある。</a:t>
            </a:r>
          </a:p>
          <a:p>
            <a:endParaRPr lang="ja-JP" altLang="en-US" dirty="0"/>
          </a:p>
          <a:p>
            <a:r>
              <a:rPr lang="ja-JP" altLang="en-US" dirty="0"/>
              <a:t>このため、まずは「施工実績」「業務実績」のように、できるだけ意味の絞られた語から試すほうが安全である。</a:t>
            </a:r>
          </a:p>
        </p:txBody>
      </p:sp>
    </p:spTree>
    <p:extLst>
      <p:ext uri="{BB962C8B-B14F-4D97-AF65-F5344CB8AC3E}">
        <p14:creationId xmlns:p14="http://schemas.microsoft.com/office/powerpoint/2010/main" val="2454071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8D80-CFE9-2B3C-A1B8-0A29F7F9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BD8DE89-EAD9-DB97-F0DA-73FE24211B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EAE1034-5671-5137-C18D-F8AC28E9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669319-089B-ADDE-45A0-A6D8DC13FA6C}"/>
              </a:ext>
            </a:extLst>
          </p:cNvPr>
          <p:cNvSpPr txBox="1"/>
          <p:nvPr/>
        </p:nvSpPr>
        <p:spPr>
          <a:xfrm>
            <a:off x="614190" y="1017326"/>
            <a:ext cx="1096058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11. </a:t>
            </a:r>
            <a:r>
              <a:rPr lang="ja-JP" altLang="en-US" dirty="0"/>
              <a:t>うまく抽出できないときの確認ポイント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ケース</a:t>
            </a:r>
            <a:r>
              <a:rPr lang="en-US" altLang="ja-JP" dirty="0"/>
              <a:t>1 </a:t>
            </a:r>
            <a:r>
              <a:rPr lang="ja-JP" altLang="en-US" dirty="0"/>
              <a:t>抽出結果が空欄になる</a:t>
            </a:r>
          </a:p>
          <a:p>
            <a:r>
              <a:rPr lang="ja-JP" altLang="en-US" dirty="0"/>
              <a:t>考えられる原因</a:t>
            </a:r>
          </a:p>
          <a:p>
            <a:r>
              <a:rPr lang="ja-JP" altLang="en-US" dirty="0"/>
              <a:t>・キーワードが元資料と一致していない</a:t>
            </a:r>
          </a:p>
          <a:p>
            <a:r>
              <a:rPr lang="ja-JP" altLang="en-US" dirty="0"/>
              <a:t>・対象語はあるが、別の表現で書かれている</a:t>
            </a:r>
          </a:p>
          <a:p>
            <a:r>
              <a:rPr lang="ja-JP" altLang="en-US" dirty="0"/>
              <a:t>・ページ内の位置や表構造の影響でうまく取れていない</a:t>
            </a:r>
          </a:p>
          <a:p>
            <a:r>
              <a:rPr lang="ja-JP" altLang="en-US" dirty="0"/>
              <a:t>対応方法</a:t>
            </a:r>
          </a:p>
          <a:p>
            <a:r>
              <a:rPr lang="ja-JP" altLang="en-US" dirty="0"/>
              <a:t>・元資料に書かれている見出しを再確認する</a:t>
            </a:r>
          </a:p>
          <a:p>
            <a:r>
              <a:rPr lang="ja-JP" altLang="en-US" dirty="0"/>
              <a:t>・候補キーワードを追加する</a:t>
            </a:r>
          </a:p>
          <a:p>
            <a:r>
              <a:rPr lang="ja-JP" altLang="en-US" dirty="0"/>
              <a:t>・まずは広めに検索し、その後絞る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ケース</a:t>
            </a:r>
            <a:r>
              <a:rPr lang="en-US" altLang="ja-JP" dirty="0"/>
              <a:t>2 </a:t>
            </a:r>
            <a:r>
              <a:rPr lang="ja-JP" altLang="en-US" dirty="0"/>
              <a:t>関係ない文章を拾う</a:t>
            </a:r>
          </a:p>
          <a:p>
            <a:r>
              <a:rPr lang="ja-JP" altLang="en-US" dirty="0"/>
              <a:t>考えられる原因</a:t>
            </a:r>
          </a:p>
          <a:p>
            <a:r>
              <a:rPr lang="ja-JP" altLang="en-US" dirty="0"/>
              <a:t>・キーワードが短すぎる</a:t>
            </a:r>
          </a:p>
          <a:p>
            <a:r>
              <a:rPr lang="ja-JP" altLang="en-US" dirty="0"/>
              <a:t>・複数箇所に同じ語が出ている</a:t>
            </a:r>
          </a:p>
          <a:p>
            <a:r>
              <a:rPr lang="ja-JP" altLang="en-US" dirty="0"/>
              <a:t>対応方法</a:t>
            </a:r>
          </a:p>
          <a:p>
            <a:r>
              <a:rPr lang="ja-JP" altLang="en-US" dirty="0"/>
              <a:t>・より具体的な語に変更する</a:t>
            </a:r>
          </a:p>
          <a:p>
            <a:r>
              <a:rPr lang="ja-JP" altLang="en-US" dirty="0"/>
              <a:t>・候補を増やすのではなく、狭める</a:t>
            </a:r>
          </a:p>
          <a:p>
            <a:r>
              <a:rPr lang="ja-JP" altLang="en-US" dirty="0"/>
              <a:t>・前後関係を見直す</a:t>
            </a:r>
          </a:p>
          <a:p>
            <a:r>
              <a:rPr lang="en-US" altLang="ja-JP" dirty="0"/>
              <a:t>### </a:t>
            </a:r>
            <a:r>
              <a:rPr lang="ja-JP" altLang="en-US" dirty="0"/>
              <a:t>ケース</a:t>
            </a:r>
            <a:r>
              <a:rPr lang="en-US" altLang="ja-JP" dirty="0"/>
              <a:t>3 </a:t>
            </a:r>
            <a:r>
              <a:rPr lang="ja-JP" altLang="en-US" dirty="0"/>
              <a:t>似た見出しが複数ある</a:t>
            </a:r>
          </a:p>
          <a:p>
            <a:r>
              <a:rPr lang="ja-JP" altLang="en-US" dirty="0"/>
              <a:t>例</a:t>
            </a:r>
          </a:p>
          <a:p>
            <a:r>
              <a:rPr lang="ja-JP" altLang="en-US" dirty="0"/>
              <a:t>・企業の施工実績</a:t>
            </a:r>
          </a:p>
          <a:p>
            <a:r>
              <a:rPr lang="ja-JP" altLang="en-US" dirty="0"/>
              <a:t>・予定管理技術者の業務実績</a:t>
            </a:r>
          </a:p>
          <a:p>
            <a:endParaRPr lang="ja-JP" altLang="en-US" dirty="0"/>
          </a:p>
          <a:p>
            <a:r>
              <a:rPr lang="ja-JP" altLang="en-US" dirty="0"/>
              <a:t>この場合は、単に「実績」で探すのではなく、項目全体の見出しに近い語を採用するほうがよい。</a:t>
            </a:r>
          </a:p>
        </p:txBody>
      </p:sp>
    </p:spTree>
    <p:extLst>
      <p:ext uri="{BB962C8B-B14F-4D97-AF65-F5344CB8AC3E}">
        <p14:creationId xmlns:p14="http://schemas.microsoft.com/office/powerpoint/2010/main" val="1052127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66E3-396A-894B-83DE-25FE0B5E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2CE74B-BDE6-E833-AF75-10685882F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1550C0-9ED8-CB49-2D68-FF7B05C8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FAE35C-464C-920D-C3E4-D584604495DC}"/>
              </a:ext>
            </a:extLst>
          </p:cNvPr>
          <p:cNvSpPr txBox="1"/>
          <p:nvPr/>
        </p:nvSpPr>
        <p:spPr>
          <a:xfrm>
            <a:off x="614190" y="1017326"/>
            <a:ext cx="109605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12. </a:t>
            </a:r>
            <a:r>
              <a:rPr lang="ja-JP" altLang="en-US" dirty="0"/>
              <a:t>実務上の推奨ルール</a:t>
            </a:r>
          </a:p>
          <a:p>
            <a:endParaRPr lang="ja-JP" altLang="en-US" dirty="0"/>
          </a:p>
          <a:p>
            <a:r>
              <a:rPr lang="ja-JP" altLang="en-US" dirty="0"/>
              <a:t>キーワード変更を行う際は、次の考え方を推奨する。</a:t>
            </a:r>
          </a:p>
          <a:p>
            <a:endParaRPr lang="ja-JP" altLang="en-US" dirty="0"/>
          </a:p>
          <a:p>
            <a:r>
              <a:rPr lang="ja-JP" altLang="en-US" dirty="0"/>
              <a:t>・まずは置換ではなく追加で対応する</a:t>
            </a:r>
          </a:p>
          <a:p>
            <a:r>
              <a:rPr lang="ja-JP" altLang="en-US" dirty="0"/>
              <a:t>・短すぎる語は避ける</a:t>
            </a:r>
          </a:p>
          <a:p>
            <a:r>
              <a:rPr lang="ja-JP" altLang="en-US" dirty="0"/>
              <a:t>・元資料の見出しをそのまま使うことを基本とする</a:t>
            </a:r>
          </a:p>
          <a:p>
            <a:r>
              <a:rPr lang="ja-JP" altLang="en-US" dirty="0"/>
              <a:t>・変更後は必ず再実行して確認する</a:t>
            </a:r>
          </a:p>
          <a:p>
            <a:r>
              <a:rPr lang="ja-JP" altLang="en-US" dirty="0"/>
              <a:t>・一度に多くを変えず、小さく直して確認する</a:t>
            </a:r>
          </a:p>
          <a:p>
            <a:endParaRPr lang="ja-JP" altLang="en-US" dirty="0"/>
          </a:p>
          <a:p>
            <a:r>
              <a:rPr lang="ja-JP" altLang="en-US" dirty="0"/>
              <a:t>この進め方であれば、原因の切り分けがしやすく、誤修正も防ぎやすい。</a:t>
            </a:r>
          </a:p>
        </p:txBody>
      </p:sp>
    </p:spTree>
    <p:extLst>
      <p:ext uri="{BB962C8B-B14F-4D97-AF65-F5344CB8AC3E}">
        <p14:creationId xmlns:p14="http://schemas.microsoft.com/office/powerpoint/2010/main" val="2227553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8FA7-C941-EB64-F425-F9812E7F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6E9E240-0992-F407-BF51-4ED7B64979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5674B9A-E5DA-85D8-AC3E-CE1F808C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4A714-972D-431A-872C-1B0FE76119C1}" type="slidenum">
              <a:rPr lang="ja-JP" altLang="en-US" smtClean="0"/>
              <a:pPr/>
              <a:t>19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0F8565-979C-25EF-BDFE-113864D44764}"/>
              </a:ext>
            </a:extLst>
          </p:cNvPr>
          <p:cNvSpPr txBox="1"/>
          <p:nvPr/>
        </p:nvSpPr>
        <p:spPr>
          <a:xfrm>
            <a:off x="614190" y="1017326"/>
            <a:ext cx="109605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## 13. </a:t>
            </a:r>
            <a:r>
              <a:rPr lang="ja-JP" altLang="en-US" dirty="0"/>
              <a:t>まとめ</a:t>
            </a:r>
          </a:p>
          <a:p>
            <a:endParaRPr lang="ja-JP" altLang="en-US" dirty="0"/>
          </a:p>
          <a:p>
            <a:r>
              <a:rPr lang="ja-JP" altLang="en-US" dirty="0"/>
              <a:t>本ツールは、</a:t>
            </a:r>
            <a:r>
              <a:rPr lang="en-US" altLang="ja-JP" dirty="0"/>
              <a:t>Python</a:t>
            </a:r>
            <a:r>
              <a:rPr lang="ja-JP" altLang="en-US" dirty="0"/>
              <a:t>コードを変更せず、</a:t>
            </a:r>
            <a:r>
              <a:rPr lang="en-US" altLang="ja-JP" dirty="0"/>
              <a:t>DSL</a:t>
            </a:r>
            <a:r>
              <a:rPr lang="ja-JP" altLang="en-US" dirty="0"/>
              <a:t>ファイルのみ修正することで、抽出条件を変更できる構成となっている。</a:t>
            </a:r>
          </a:p>
          <a:p>
            <a:endParaRPr lang="ja-JP" altLang="en-US" dirty="0"/>
          </a:p>
          <a:p>
            <a:r>
              <a:rPr lang="ja-JP" altLang="en-US" dirty="0"/>
              <a:t>キーワード変更の基本は以下のとおりである。</a:t>
            </a:r>
          </a:p>
          <a:p>
            <a:endParaRPr lang="ja-JP" altLang="en-US" dirty="0"/>
          </a:p>
          <a:p>
            <a:r>
              <a:rPr lang="ja-JP" altLang="en-US" dirty="0"/>
              <a:t>・元資料の表現を確認する</a:t>
            </a:r>
          </a:p>
          <a:p>
            <a:r>
              <a:rPr lang="ja-JP" altLang="en-US" dirty="0"/>
              <a:t>・対応する</a:t>
            </a:r>
            <a:r>
              <a:rPr lang="en-US" altLang="ja-JP" dirty="0"/>
              <a:t>DSL</a:t>
            </a:r>
            <a:r>
              <a:rPr lang="ja-JP" altLang="en-US" dirty="0"/>
              <a:t>ファイルを開く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search text </a:t>
            </a:r>
            <a:r>
              <a:rPr lang="ja-JP" altLang="en-US" dirty="0"/>
              <a:t>の語句を追加または変更する</a:t>
            </a:r>
          </a:p>
          <a:p>
            <a:r>
              <a:rPr lang="ja-JP" altLang="en-US" dirty="0"/>
              <a:t>・再実行して結果を確認する</a:t>
            </a:r>
          </a:p>
          <a:p>
            <a:endParaRPr lang="ja-JP" altLang="en-US" dirty="0"/>
          </a:p>
          <a:p>
            <a:r>
              <a:rPr lang="ja-JP" altLang="en-US" dirty="0"/>
              <a:t>特に重要なのは、いきなり大きく書き換えず、まずは候補語を追加し、結果を見ながら調整することである。</a:t>
            </a:r>
          </a:p>
          <a:p>
            <a:endParaRPr lang="ja-JP" altLang="en-US" dirty="0"/>
          </a:p>
          <a:p>
            <a:r>
              <a:rPr lang="ja-JP" altLang="en-US" dirty="0"/>
              <a:t>この運用により、非エンジニアでも抽出条件を安全に見直し、抽出精度を改善することができる。</a:t>
            </a:r>
          </a:p>
        </p:txBody>
      </p:sp>
    </p:spTree>
    <p:extLst>
      <p:ext uri="{BB962C8B-B14F-4D97-AF65-F5344CB8AC3E}">
        <p14:creationId xmlns:p14="http://schemas.microsoft.com/office/powerpoint/2010/main" val="21194733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solidFill>
            <a:schemeClr val="bg1">
              <a:lumMod val="75000"/>
            </a:schemeClr>
          </a:solidFill>
        </a:ln>
      </a:spPr>
      <a:bodyPr tIns="72000" bIns="72000" rtlCol="0" anchor="ctr"/>
      <a:lstStyle>
        <a:defPPr algn="ctr">
          <a:defRPr sz="1050" b="1" dirty="0">
            <a:solidFill>
              <a:schemeClr val="tx1">
                <a:lumMod val="85000"/>
                <a:lumOff val="15000"/>
              </a:schemeClr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 anchorCtr="0">
        <a:spAutoFit/>
      </a:bodyPr>
      <a:lstStyle>
        <a:defPPr algn="l">
          <a:defRPr sz="2000" dirty="0">
            <a:solidFill>
              <a:prstClr val="black"/>
            </a:solidFill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3B324131-AB8C-4963-9DDB-C36530FA8363}" vid="{08D40F39-750A-4CB6-AA7D-BE682B92FFA7}"/>
    </a:ext>
  </a:extLst>
</a:theme>
</file>

<file path=ppt/theme/theme2.xml><?xml version="1.0" encoding="utf-8"?>
<a:theme xmlns:a="http://schemas.openxmlformats.org/drawingml/2006/main" name="11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3B324131-AB8C-4963-9DDB-C36530FA8363}" vid="{08D40F39-750A-4CB6-AA7D-BE682B92FFA7}"/>
    </a:ext>
  </a:extLst>
</a:theme>
</file>

<file path=ppt/theme/theme3.xml><?xml version="1.0" encoding="utf-8"?>
<a:theme xmlns:a="http://schemas.openxmlformats.org/drawingml/2006/main" name="1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 anchorCtr="0">
        <a:spAutoFit/>
      </a:bodyPr>
      <a:lstStyle>
        <a:defPPr algn="l">
          <a:defRPr sz="2000" dirty="0">
            <a:solidFill>
              <a:prstClr val="black"/>
            </a:solidFill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3B324131-AB8C-4963-9DDB-C36530FA8363}" vid="{08D40F39-750A-4CB6-AA7D-BE682B92FFA7}"/>
    </a:ext>
  </a:extLst>
</a:theme>
</file>

<file path=ppt/theme/theme4.xml><?xml version="1.0" encoding="utf-8"?>
<a:theme xmlns:a="http://schemas.openxmlformats.org/drawingml/2006/main" name="14_Office テーマ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tx2"/>
          </a:solidFill>
        </a:ln>
      </a:spPr>
      <a:bodyPr rtlCol="0" anchor="ctr"/>
      <a:lstStyle>
        <a:defPPr algn="ctr">
          <a:defRPr kumimoji="1" dirty="0" smtClean="0">
            <a:solidFill>
              <a:schemeClr val="tx2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b="1" dirty="0" smtClean="0">
            <a:solidFill>
              <a:schemeClr val="tx2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3B324131-AB8C-4963-9DDB-C36530FA8363}" vid="{08D40F39-750A-4CB6-AA7D-BE682B92FFA7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1A7BEBD20933F49AED6A27DB6A81079" ma:contentTypeVersion="17" ma:contentTypeDescription="新しいドキュメントを作成します。" ma:contentTypeScope="" ma:versionID="0e68500b15966ab67df89eda07c402c6">
  <xsd:schema xmlns:xsd="http://www.w3.org/2001/XMLSchema" xmlns:xs="http://www.w3.org/2001/XMLSchema" xmlns:p="http://schemas.microsoft.com/office/2006/metadata/properties" xmlns:ns3="aa7a28db-6618-4032-b766-23b559959f2f" xmlns:ns4="13cad90d-ba6b-4d0e-a821-395f3a2fe8c3" targetNamespace="http://schemas.microsoft.com/office/2006/metadata/properties" ma:root="true" ma:fieldsID="87c89d8ee302ab83dfd3b63ff655e777" ns3:_="" ns4:_="">
    <xsd:import namespace="aa7a28db-6618-4032-b766-23b559959f2f"/>
    <xsd:import namespace="13cad90d-ba6b-4d0e-a821-395f3a2fe8c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a28db-6618-4032-b766-23b559959f2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ad90d-ba6b-4d0e-a821-395f3a2fe8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cad90d-ba6b-4d0e-a821-395f3a2fe8c3" xsi:nil="true"/>
  </documentManagement>
</p:properties>
</file>

<file path=customXml/itemProps1.xml><?xml version="1.0" encoding="utf-8"?>
<ds:datastoreItem xmlns:ds="http://schemas.openxmlformats.org/officeDocument/2006/customXml" ds:itemID="{AC2956AA-12C4-489C-B431-C5F87E1DA1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D0F6A7-636F-4920-AF10-F96FC83A6741}">
  <ds:schemaRefs>
    <ds:schemaRef ds:uri="13cad90d-ba6b-4d0e-a821-395f3a2fe8c3"/>
    <ds:schemaRef ds:uri="aa7a28db-6618-4032-b766-23b559959f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4C1DAA-3E37-4217-8017-8C5096434A85}">
  <ds:schemaRefs>
    <ds:schemaRef ds:uri="13cad90d-ba6b-4d0e-a821-395f3a2fe8c3"/>
    <ds:schemaRef ds:uri="aa7a28db-6618-4032-b766-23b559959f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436d589-92e5-4e3b-a67a-1e65a9b1ba02}" enabled="0" method="" siteId="{1436d589-92e5-4e3b-a67a-1e65a9b1ba0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PacificConsultants_wide01</Template>
  <TotalTime>519</TotalTime>
  <Words>2210</Words>
  <Application>Microsoft Office PowerPoint</Application>
  <PresentationFormat>ワイド画面</PresentationFormat>
  <Paragraphs>298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19</vt:i4>
      </vt:variant>
    </vt:vector>
  </HeadingPairs>
  <TitlesOfParts>
    <vt:vector size="30" baseType="lpstr">
      <vt:lpstr>BIZ UDPゴシック</vt:lpstr>
      <vt:lpstr>メイリオ</vt:lpstr>
      <vt:lpstr>小塚ゴシック Pro L</vt:lpstr>
      <vt:lpstr>Arial</vt:lpstr>
      <vt:lpstr>Calibri</vt:lpstr>
      <vt:lpstr>Times New Roman</vt:lpstr>
      <vt:lpstr>Wingdings</vt:lpstr>
      <vt:lpstr>1_Office テーマ</vt:lpstr>
      <vt:lpstr>11_Office テーマ</vt:lpstr>
      <vt:lpstr>12_Office テーマ</vt:lpstr>
      <vt:lpstr>14_Office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パシフィックコンサルタンツ(株)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PacificConsultants_wide03_ガイド付き《オススメ》</dc:title>
  <dc:creator>PacificConsultants</dc:creator>
  <cp:lastModifiedBy>神谷 聖二</cp:lastModifiedBy>
  <cp:revision>14</cp:revision>
  <cp:lastPrinted>2025-08-05T02:28:06Z</cp:lastPrinted>
  <dcterms:created xsi:type="dcterms:W3CDTF">2016-02-19T02:15:33Z</dcterms:created>
  <dcterms:modified xsi:type="dcterms:W3CDTF">2026-03-11T17:02:54Z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0x010100B1A7BEBD20933F49AED6A27DB6A81079</vt:lpwstr>
  </property>
</Properties>
</file>